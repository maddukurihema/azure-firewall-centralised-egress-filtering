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2C68A-DC55-6FBF-CCB3-B976246BAC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97DA9E-AD76-3BD3-FC79-10C63223F9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425A2D-2CE2-B9A9-9BCF-969202067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12868-1017-46BD-93C2-9663CEC6972E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DEE3E3-C0F4-9357-1FC8-B780179F9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E7DF84-B811-771C-3397-FEAEA1A34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3A06D-8AC2-4779-9F20-160257CD66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09155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BDC20-1C4D-B2B3-907F-CF0BC6ED9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698A41-D94C-BFB4-1DED-2E354F0394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631B77-9BEE-E8FC-B3E3-589BED801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12868-1017-46BD-93C2-9663CEC6972E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668604-CA32-0F1F-433C-596AF4166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E5B917-B428-2A99-DBC4-9E85BC81F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3A06D-8AC2-4779-9F20-160257CD66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32500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4F1BF-3B6C-AB33-02A9-0465BD973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57489F-F4F2-2470-B30F-E4E6690C27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8648B8-F2AC-8B6F-79C7-E0BB69F8C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12868-1017-46BD-93C2-9663CEC6972E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F7C6B5-D39B-1352-C630-66FBB9127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4EB12A-E988-00D6-0201-4C51DEA10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3A06D-8AC2-4779-9F20-160257CD66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60327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0678D-2000-DB16-AA2E-3364562FA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D02B23-6A37-28FB-8A04-B267AA7DBF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AD6CE1-E62C-91DB-A24B-E019B8E329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FC66D8-43D2-2D02-A888-3595A9A9C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12868-1017-46BD-93C2-9663CEC6972E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F36342-125E-4C65-1BF7-9F4E90412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70BA34-EE46-CA23-3E74-126E6E5F1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3A06D-8AC2-4779-9F20-160257CD66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9646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7297C-5D5D-336E-81FF-9C105B286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40382F-DB4F-AED7-F234-3898C4FCC8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94BD58-303C-F27B-B457-C563C39C0F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9A0C74-DED4-F06B-D91C-07D3110591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3030CA-0C57-E017-D692-DA4957A634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70FCA9-5A9C-F4A4-E7D3-C2ABA02EF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12868-1017-46BD-93C2-9663CEC6972E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402A40-2F73-C963-B56E-395AC27CD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31653E-72C1-6725-E845-E8D0C1A2A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3A06D-8AC2-4779-9F20-160257CD66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12822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B8207-D772-6832-34B0-A2EEE7C6B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51EB08-8697-ACF8-4E13-DC17FBB6F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12868-1017-46BD-93C2-9663CEC6972E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CDC76C-44E7-CED2-31A1-3D354AE22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1BF4A8-F260-0325-8D0E-265689A5B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3A06D-8AC2-4779-9F20-160257CD66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60851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5DE074-BB93-8244-285D-EBF55BC8D7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12868-1017-46BD-93C2-9663CEC6972E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015B44-F392-F49E-3155-6895872B3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08F22B-81D5-1281-FB9C-5739D0210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3A06D-8AC2-4779-9F20-160257CD66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16720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C9778-0C87-4AC7-3DAC-168D472AC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64E58F-1AE4-D3A2-F907-CDAFE5CBA0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CECCA9-D1CD-63E6-0028-A20305688B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466DD7-737F-E084-A105-96D19A974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12868-1017-46BD-93C2-9663CEC6972E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2FD3AA-5EAE-8109-1B80-66483A538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771A4D-F6AB-04E5-FE96-2082F8BFA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3A06D-8AC2-4779-9F20-160257CD66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93808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61CF5-C25F-E5C8-187C-6B99A446F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9E8FEE-43ED-A72B-D5AF-C3C93D40C1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1705DB-D258-7A42-C617-D48DE6EBCA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B4907D-6054-416F-48C6-B6F13BB67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12868-1017-46BD-93C2-9663CEC6972E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1A87C1-BBC7-DD53-8FE0-E197F271D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1AF41F-FE2B-B1B4-F64F-07F2E0B78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3A06D-8AC2-4779-9F20-160257CD66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32677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8C7E2-A0E7-2C53-BA3D-DF8A87D71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E5243F-EA7D-04A4-0A78-F9B9C41FEE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B353DB-B1C0-DE54-235C-84CA53EA1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12868-1017-46BD-93C2-9663CEC6972E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902E38-5EA0-4591-94EE-DD519279D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43936D-5A68-B71F-3ED1-8747DB38D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3A06D-8AC2-4779-9F20-160257CD66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32413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D673CDE-18FD-3046-20BD-4B82505C5B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093632-CAE7-24D2-9A62-7E8FCE355F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5CA536-3FEE-6227-20CF-218437708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12868-1017-46BD-93C2-9663CEC6972E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DCB6FD-EBD3-2471-0728-B2D2BCB1B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6ED149-88B7-D9AF-AAF9-055CA4F6A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3A06D-8AC2-4779-9F20-160257CD66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59228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2DEE51-5E94-B9A1-B347-A92CF4950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D94F07-8BED-DD92-9BAC-0BEDB47CAF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C76C74-2D76-E835-1FEE-2CB09448AB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912868-1017-46BD-93C2-9663CEC6972E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781DF6-D2D7-BCCE-ED29-8F39FC2937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B5C74-98CC-9091-5369-6F3566181F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23A06D-8AC2-4779-9F20-160257CD66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86118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azure/firewall/tutorial-firewall-deploy-portal?utm_source=chatgpt.com" TargetMode="External"/><Relationship Id="rId2" Type="http://schemas.openxmlformats.org/officeDocument/2006/relationships/hyperlink" Target="https://learn.microsoft.com/en-us/azure/firewall/firewall-faq?utm_source=chatgpt.com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learn.microsoft.com/en-us/azure/networking/security/zero-trust-azure-firewall?utm_source=chatgpt.com" TargetMode="External"/><Relationship Id="rId5" Type="http://schemas.openxmlformats.org/officeDocument/2006/relationships/hyperlink" Target="https://learn.microsoft.com/en-us/azure/firewall/secure-firewall?utm_source=chatgpt.com" TargetMode="External"/><Relationship Id="rId4" Type="http://schemas.openxmlformats.org/officeDocument/2006/relationships/hyperlink" Target="https://learn.microsoft.com/en-us/azure/firewall/monitor-firewall?utm_source=chatgpt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4BFC405-5071-0DD1-71FF-05A5D9AE07F6}"/>
              </a:ext>
            </a:extLst>
          </p:cNvPr>
          <p:cNvSpPr/>
          <p:nvPr/>
        </p:nvSpPr>
        <p:spPr>
          <a:xfrm>
            <a:off x="0" y="0"/>
            <a:ext cx="12191999" cy="6936658"/>
          </a:xfrm>
          <a:prstGeom prst="rect">
            <a:avLst/>
          </a:prstGeom>
          <a:solidFill>
            <a:srgbClr val="0F284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62E8E3-DEA0-89AB-0613-BB676AEA83FC}"/>
              </a:ext>
            </a:extLst>
          </p:cNvPr>
          <p:cNvSpPr txBox="1"/>
          <p:nvPr/>
        </p:nvSpPr>
        <p:spPr>
          <a:xfrm>
            <a:off x="944920" y="670233"/>
            <a:ext cx="8100757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2800" b="1" dirty="0">
                <a:solidFill>
                  <a:srgbClr val="FFFFFF"/>
                </a:solidFill>
                <a:latin typeface="Arial" panose="020B0604020202020204" pitchFamily="34" charset="0"/>
              </a:rPr>
              <a:t>Azure Firewall Centralised Egress Filtering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A9C022-3FF8-1934-CD86-1D380023253F}"/>
              </a:ext>
            </a:extLst>
          </p:cNvPr>
          <p:cNvSpPr txBox="1"/>
          <p:nvPr/>
        </p:nvSpPr>
        <p:spPr>
          <a:xfrm>
            <a:off x="712838" y="1637071"/>
            <a:ext cx="7366000" cy="249299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000" dirty="0">
                <a:solidFill>
                  <a:srgbClr val="EBF0F5"/>
                </a:solidFill>
                <a:latin typeface="Arial" panose="020B0604020202020204" pitchFamily="34" charset="0"/>
              </a:rPr>
              <a:t>Team:  T225</a:t>
            </a:r>
          </a:p>
          <a:p>
            <a:endParaRPr lang="en-IN" sz="2000" dirty="0">
              <a:solidFill>
                <a:srgbClr val="EBF0F5"/>
              </a:solidFill>
              <a:latin typeface="Arial" panose="020B0604020202020204" pitchFamily="34" charset="0"/>
            </a:endParaRPr>
          </a:p>
          <a:p>
            <a:r>
              <a:rPr lang="en-IN" sz="2000" dirty="0">
                <a:solidFill>
                  <a:srgbClr val="EBF0F5"/>
                </a:solidFill>
                <a:latin typeface="Arial" panose="020B0604020202020204" pitchFamily="34" charset="0"/>
              </a:rPr>
              <a:t>Guide Name: Dr P. Lakshmi</a:t>
            </a:r>
          </a:p>
          <a:p>
            <a:endParaRPr lang="en-IN" sz="2000" dirty="0">
              <a:solidFill>
                <a:srgbClr val="EBF0F5"/>
              </a:solidFill>
              <a:latin typeface="Arial" panose="020B0604020202020204" pitchFamily="34" charset="0"/>
            </a:endParaRPr>
          </a:p>
          <a:p>
            <a:r>
              <a:rPr lang="en-IN" sz="2000" dirty="0">
                <a:solidFill>
                  <a:srgbClr val="EBF0F5"/>
                </a:solidFill>
                <a:latin typeface="Arial" panose="020B0604020202020204" pitchFamily="34" charset="0"/>
              </a:rPr>
              <a:t>Department / Section:  CSE &amp; S55</a:t>
            </a:r>
          </a:p>
          <a:p>
            <a:endParaRPr lang="en-IN" sz="2000" dirty="0">
              <a:solidFill>
                <a:srgbClr val="EBF0F5"/>
              </a:solidFill>
              <a:latin typeface="Arial" panose="020B0604020202020204" pitchFamily="34" charset="0"/>
            </a:endParaRPr>
          </a:p>
          <a:p>
            <a:r>
              <a:rPr lang="en-IN" sz="2000" dirty="0">
                <a:solidFill>
                  <a:srgbClr val="EBF0F5"/>
                </a:solidFill>
                <a:latin typeface="Arial" panose="020B0604020202020204" pitchFamily="34" charset="0"/>
              </a:rPr>
              <a:t>Team members:</a:t>
            </a:r>
          </a:p>
          <a:p>
            <a:endParaRPr lang="en-IN" sz="1600" dirty="0">
              <a:solidFill>
                <a:srgbClr val="EBF0F5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827663F-62F8-BBED-4326-D15905292C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5257364"/>
              </p:ext>
            </p:extLst>
          </p:nvPr>
        </p:nvGraphicFramePr>
        <p:xfrm>
          <a:off x="712838" y="3826660"/>
          <a:ext cx="8127999" cy="2392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801440436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4167095347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42460282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S.no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Student Name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ID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07660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MADDUKURI HEMA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2400033171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18201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YANAMADALA ADITYA SWAROOP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2400032999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68101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RACHAPUDI AKHILESH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2400032599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79621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CHIMAKURTHI LAKSHMI JANANI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2400031637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1102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36482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6589B2F-E0D3-3E4D-54F5-3D24DA59F1EB}"/>
              </a:ext>
            </a:extLst>
          </p:cNvPr>
          <p:cNvSpPr txBox="1"/>
          <p:nvPr/>
        </p:nvSpPr>
        <p:spPr>
          <a:xfrm>
            <a:off x="444500" y="254000"/>
            <a:ext cx="8255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700" b="1">
                <a:solidFill>
                  <a:srgbClr val="0F2846"/>
                </a:solidFill>
                <a:latin typeface="Arial" panose="020B0604020202020204" pitchFamily="34" charset="0"/>
              </a:rPr>
              <a:t>Introduction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0AE23C0-C590-FAB3-7F87-62FEB43B7CAC}"/>
              </a:ext>
            </a:extLst>
          </p:cNvPr>
          <p:cNvSpPr/>
          <p:nvPr/>
        </p:nvSpPr>
        <p:spPr>
          <a:xfrm>
            <a:off x="444500" y="914400"/>
            <a:ext cx="8255000" cy="38100"/>
          </a:xfrm>
          <a:prstGeom prst="rect">
            <a:avLst/>
          </a:prstGeom>
          <a:solidFill>
            <a:srgbClr val="0078D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FB02FCC-F06B-B9E8-8C4F-9DEC37528563}"/>
              </a:ext>
            </a:extLst>
          </p:cNvPr>
          <p:cNvSpPr/>
          <p:nvPr/>
        </p:nvSpPr>
        <p:spPr>
          <a:xfrm>
            <a:off x="508000" y="1397000"/>
            <a:ext cx="3810000" cy="1778000"/>
          </a:xfrm>
          <a:prstGeom prst="round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46A582-FCDE-FCB6-ECA8-F66174A83CF6}"/>
              </a:ext>
            </a:extLst>
          </p:cNvPr>
          <p:cNvSpPr txBox="1"/>
          <p:nvPr/>
        </p:nvSpPr>
        <p:spPr>
          <a:xfrm>
            <a:off x="635000" y="1498600"/>
            <a:ext cx="3556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600" b="1">
                <a:solidFill>
                  <a:srgbClr val="005AA0"/>
                </a:solidFill>
                <a:latin typeface="Arial" panose="020B0604020202020204" pitchFamily="34" charset="0"/>
              </a:rPr>
              <a:t>Cloud Networking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936B72-059E-0D5C-5A89-9CB68980A127}"/>
              </a:ext>
            </a:extLst>
          </p:cNvPr>
          <p:cNvSpPr txBox="1"/>
          <p:nvPr/>
        </p:nvSpPr>
        <p:spPr>
          <a:xfrm>
            <a:off x="635000" y="1930400"/>
            <a:ext cx="3556000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323C46"/>
                </a:solidFill>
                <a:latin typeface="Arial" panose="020B0604020202020204" pitchFamily="34" charset="0"/>
              </a:rPr>
              <a:t>Azure provides virtual networks, subnets and routing mechanisms for cloud workloads.</a:t>
            </a:r>
            <a:endParaRPr lang="en-IN" sz="1300">
              <a:solidFill>
                <a:srgbClr val="323C46"/>
              </a:solidFill>
              <a:latin typeface="Arial" panose="020B06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C416BE1-D001-97B9-F22E-EB0AC6D3DDB2}"/>
              </a:ext>
            </a:extLst>
          </p:cNvPr>
          <p:cNvSpPr/>
          <p:nvPr/>
        </p:nvSpPr>
        <p:spPr>
          <a:xfrm>
            <a:off x="4635500" y="1397000"/>
            <a:ext cx="3810000" cy="1778000"/>
          </a:xfrm>
          <a:prstGeom prst="round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59B3B5-2300-3359-D80D-B4A049BD1ACB}"/>
              </a:ext>
            </a:extLst>
          </p:cNvPr>
          <p:cNvSpPr txBox="1"/>
          <p:nvPr/>
        </p:nvSpPr>
        <p:spPr>
          <a:xfrm>
            <a:off x="4762500" y="1498600"/>
            <a:ext cx="3556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600" b="1">
                <a:solidFill>
                  <a:srgbClr val="005AA0"/>
                </a:solidFill>
                <a:latin typeface="Arial" panose="020B0604020202020204" pitchFamily="34" charset="0"/>
              </a:rPr>
              <a:t>Egress Traffic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C84662-E614-67FD-2CE7-20F9337714B7}"/>
              </a:ext>
            </a:extLst>
          </p:cNvPr>
          <p:cNvSpPr txBox="1"/>
          <p:nvPr/>
        </p:nvSpPr>
        <p:spPr>
          <a:xfrm>
            <a:off x="4762500" y="1930400"/>
            <a:ext cx="3556000" cy="6924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323C46"/>
                </a:solidFill>
                <a:latin typeface="Arial" panose="020B0604020202020204" pitchFamily="34" charset="0"/>
              </a:rPr>
              <a:t>Egress means outbound traffic leaving cloud workloads and accessing external networks or the Internet.</a:t>
            </a:r>
            <a:endParaRPr lang="en-IN" sz="1300">
              <a:solidFill>
                <a:srgbClr val="323C46"/>
              </a:solidFill>
              <a:latin typeface="Arial" panose="020B0604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70E1256-5564-40B5-6BD4-239497D9A8E8}"/>
              </a:ext>
            </a:extLst>
          </p:cNvPr>
          <p:cNvSpPr/>
          <p:nvPr/>
        </p:nvSpPr>
        <p:spPr>
          <a:xfrm>
            <a:off x="508000" y="3619500"/>
            <a:ext cx="3810000" cy="1778000"/>
          </a:xfrm>
          <a:prstGeom prst="round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5DE344-6C8A-1BBB-5EA9-AF8BF50243D0}"/>
              </a:ext>
            </a:extLst>
          </p:cNvPr>
          <p:cNvSpPr txBox="1"/>
          <p:nvPr/>
        </p:nvSpPr>
        <p:spPr>
          <a:xfrm>
            <a:off x="635000" y="3721100"/>
            <a:ext cx="3556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600" b="1">
                <a:solidFill>
                  <a:srgbClr val="005AA0"/>
                </a:solidFill>
                <a:latin typeface="Arial" panose="020B0604020202020204" pitchFamily="34" charset="0"/>
              </a:rPr>
              <a:t>Security Need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8DE0794-2111-69AA-A573-9EE5A04962BF}"/>
              </a:ext>
            </a:extLst>
          </p:cNvPr>
          <p:cNvSpPr txBox="1"/>
          <p:nvPr/>
        </p:nvSpPr>
        <p:spPr>
          <a:xfrm>
            <a:off x="635000" y="4152900"/>
            <a:ext cx="3556000" cy="6924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323C46"/>
                </a:solidFill>
                <a:latin typeface="Arial" panose="020B0604020202020204" pitchFamily="34" charset="0"/>
              </a:rPr>
              <a:t>Organizations need centralized control over outbound traffic to reduce unauthorized access and security risks.</a:t>
            </a:r>
            <a:endParaRPr lang="en-IN" sz="1300">
              <a:solidFill>
                <a:srgbClr val="323C46"/>
              </a:solidFill>
              <a:latin typeface="Arial" panose="020B060402020202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F6E88DE-CDD3-8250-AACE-ECCA074A312A}"/>
              </a:ext>
            </a:extLst>
          </p:cNvPr>
          <p:cNvSpPr/>
          <p:nvPr/>
        </p:nvSpPr>
        <p:spPr>
          <a:xfrm>
            <a:off x="4635500" y="3619500"/>
            <a:ext cx="3810000" cy="1778000"/>
          </a:xfrm>
          <a:prstGeom prst="round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421E21B-A447-BAC0-6B50-76526CF96646}"/>
              </a:ext>
            </a:extLst>
          </p:cNvPr>
          <p:cNvSpPr txBox="1"/>
          <p:nvPr/>
        </p:nvSpPr>
        <p:spPr>
          <a:xfrm>
            <a:off x="4762500" y="3721100"/>
            <a:ext cx="3556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600" b="1">
                <a:solidFill>
                  <a:srgbClr val="005AA0"/>
                </a:solidFill>
                <a:latin typeface="Arial" panose="020B0604020202020204" pitchFamily="34" charset="0"/>
              </a:rPr>
              <a:t>Azure Firewall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0208B02-268B-F217-AA57-2B0755AE2000}"/>
              </a:ext>
            </a:extLst>
          </p:cNvPr>
          <p:cNvSpPr txBox="1"/>
          <p:nvPr/>
        </p:nvSpPr>
        <p:spPr>
          <a:xfrm>
            <a:off x="4762500" y="4152900"/>
            <a:ext cx="3556000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323C46"/>
                </a:solidFill>
                <a:latin typeface="Arial" panose="020B0604020202020204" pitchFamily="34" charset="0"/>
              </a:rPr>
              <a:t>Azure Firewall provides centralized traffic inspection and policy enforcement.</a:t>
            </a:r>
            <a:endParaRPr lang="en-IN" sz="1300">
              <a:solidFill>
                <a:srgbClr val="323C46"/>
              </a:solidFill>
              <a:latin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A2B2C3D-A7E4-43F0-AEC5-C71E76962479}"/>
              </a:ext>
            </a:extLst>
          </p:cNvPr>
          <p:cNvSpPr txBox="1"/>
          <p:nvPr/>
        </p:nvSpPr>
        <p:spPr>
          <a:xfrm>
            <a:off x="444500" y="6413500"/>
            <a:ext cx="8255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900">
                <a:solidFill>
                  <a:srgbClr val="646E78"/>
                </a:solidFill>
                <a:latin typeface="Arial" panose="020B0604020202020204" pitchFamily="34" charset="0"/>
              </a:rPr>
              <a:t>Azure Firewall Centralised Egress Filtering</a:t>
            </a:r>
          </a:p>
        </p:txBody>
      </p:sp>
    </p:spTree>
    <p:extLst>
      <p:ext uri="{BB962C8B-B14F-4D97-AF65-F5344CB8AC3E}">
        <p14:creationId xmlns:p14="http://schemas.microsoft.com/office/powerpoint/2010/main" val="27237384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C1269A4-513F-1424-8857-F39AB26754DE}"/>
              </a:ext>
            </a:extLst>
          </p:cNvPr>
          <p:cNvSpPr txBox="1"/>
          <p:nvPr/>
        </p:nvSpPr>
        <p:spPr>
          <a:xfrm>
            <a:off x="444500" y="254000"/>
            <a:ext cx="8255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700" b="1">
                <a:solidFill>
                  <a:srgbClr val="0F2846"/>
                </a:solidFill>
                <a:latin typeface="Arial" panose="020B0604020202020204" pitchFamily="34" charset="0"/>
              </a:rPr>
              <a:t>Problem Statement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9961BF9-FC6F-569D-E17B-AB56C93A33F5}"/>
              </a:ext>
            </a:extLst>
          </p:cNvPr>
          <p:cNvSpPr/>
          <p:nvPr/>
        </p:nvSpPr>
        <p:spPr>
          <a:xfrm>
            <a:off x="444500" y="914400"/>
            <a:ext cx="8255000" cy="38100"/>
          </a:xfrm>
          <a:prstGeom prst="rect">
            <a:avLst/>
          </a:prstGeom>
          <a:solidFill>
            <a:srgbClr val="0078D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791B75-4088-B146-8D35-5D3815BEFFED}"/>
              </a:ext>
            </a:extLst>
          </p:cNvPr>
          <p:cNvSpPr txBox="1"/>
          <p:nvPr/>
        </p:nvSpPr>
        <p:spPr>
          <a:xfrm>
            <a:off x="698500" y="1397000"/>
            <a:ext cx="7620000" cy="147732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>
                <a:solidFill>
                  <a:srgbClr val="28323C"/>
                </a:solidFill>
                <a:latin typeface="Arial" panose="020B0604020202020204" pitchFamily="34" charset="0"/>
              </a:rPr>
              <a:t>• Multiple teams require Internet access from Azure workloads.</a:t>
            </a:r>
          </a:p>
          <a:p>
            <a:r>
              <a:rPr lang="en-US">
                <a:solidFill>
                  <a:srgbClr val="28323C"/>
                </a:solidFill>
                <a:latin typeface="Arial" panose="020B0604020202020204" pitchFamily="34" charset="0"/>
              </a:rPr>
              <a:t>• Direct outbound access can make security policies difficult to manage.</a:t>
            </a:r>
          </a:p>
          <a:p>
            <a:r>
              <a:rPr lang="en-US">
                <a:solidFill>
                  <a:srgbClr val="28323C"/>
                </a:solidFill>
                <a:latin typeface="Arial" panose="020B0604020202020204" pitchFamily="34" charset="0"/>
              </a:rPr>
              <a:t>• Different teams may use inconsistent filtering rules.</a:t>
            </a:r>
          </a:p>
          <a:p>
            <a:r>
              <a:rPr lang="en-US">
                <a:solidFill>
                  <a:srgbClr val="28323C"/>
                </a:solidFill>
                <a:latin typeface="Arial" panose="020B0604020202020204" pitchFamily="34" charset="0"/>
              </a:rPr>
              <a:t>• Unauthorized websites and services may be reachable.</a:t>
            </a:r>
          </a:p>
          <a:p>
            <a:r>
              <a:rPr lang="en-US">
                <a:solidFill>
                  <a:srgbClr val="28323C"/>
                </a:solidFill>
                <a:latin typeface="Arial" panose="020B0604020202020204" pitchFamily="34" charset="0"/>
              </a:rPr>
              <a:t>• Security teams need centralized visibility and control.</a:t>
            </a:r>
            <a:endParaRPr lang="en-IN">
              <a:solidFill>
                <a:srgbClr val="28323C"/>
              </a:solidFill>
              <a:latin typeface="Arial" panose="020B06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AEC3294-19DC-6C03-1B12-165E140FACFD}"/>
              </a:ext>
            </a:extLst>
          </p:cNvPr>
          <p:cNvSpPr/>
          <p:nvPr/>
        </p:nvSpPr>
        <p:spPr>
          <a:xfrm>
            <a:off x="952500" y="5016500"/>
            <a:ext cx="6858000" cy="1016000"/>
          </a:xfrm>
          <a:prstGeom prst="round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3056AE-68EE-7C94-CEBE-B5469FAAACE2}"/>
              </a:ext>
            </a:extLst>
          </p:cNvPr>
          <p:cNvSpPr txBox="1"/>
          <p:nvPr/>
        </p:nvSpPr>
        <p:spPr>
          <a:xfrm>
            <a:off x="1079500" y="5118100"/>
            <a:ext cx="6604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600" b="1">
                <a:solidFill>
                  <a:srgbClr val="005AA0"/>
                </a:solidFill>
                <a:latin typeface="Arial" panose="020B0604020202020204" pitchFamily="34" charset="0"/>
              </a:rPr>
              <a:t>Why address the problem?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6EE42C-7F92-8A16-C6CE-BFB815D4842B}"/>
              </a:ext>
            </a:extLst>
          </p:cNvPr>
          <p:cNvSpPr txBox="1"/>
          <p:nvPr/>
        </p:nvSpPr>
        <p:spPr>
          <a:xfrm>
            <a:off x="1079500" y="5549900"/>
            <a:ext cx="6604000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323C46"/>
                </a:solidFill>
                <a:latin typeface="Arial" panose="020B0604020202020204" pitchFamily="34" charset="0"/>
              </a:rPr>
              <a:t>A centralized egress security architecture provides a single control point for outbound traffic and common security policy.</a:t>
            </a:r>
            <a:endParaRPr lang="en-IN" sz="1300">
              <a:solidFill>
                <a:srgbClr val="323C46"/>
              </a:solidFill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7AA024-CE19-72CC-536C-5B55D745E627}"/>
              </a:ext>
            </a:extLst>
          </p:cNvPr>
          <p:cNvSpPr txBox="1"/>
          <p:nvPr/>
        </p:nvSpPr>
        <p:spPr>
          <a:xfrm>
            <a:off x="444500" y="6413500"/>
            <a:ext cx="8255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900">
                <a:solidFill>
                  <a:srgbClr val="646E78"/>
                </a:solidFill>
                <a:latin typeface="Arial" panose="020B0604020202020204" pitchFamily="34" charset="0"/>
              </a:rPr>
              <a:t>Azure Firewall Centralised Egress Filtering</a:t>
            </a:r>
          </a:p>
        </p:txBody>
      </p:sp>
    </p:spTree>
    <p:extLst>
      <p:ext uri="{BB962C8B-B14F-4D97-AF65-F5344CB8AC3E}">
        <p14:creationId xmlns:p14="http://schemas.microsoft.com/office/powerpoint/2010/main" val="35014725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EE96AA4-44B7-35F4-A844-E4F82AABCC3C}"/>
              </a:ext>
            </a:extLst>
          </p:cNvPr>
          <p:cNvSpPr txBox="1"/>
          <p:nvPr/>
        </p:nvSpPr>
        <p:spPr>
          <a:xfrm>
            <a:off x="444500" y="254000"/>
            <a:ext cx="8255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700" b="1">
                <a:solidFill>
                  <a:srgbClr val="0F2846"/>
                </a:solidFill>
                <a:latin typeface="Arial" panose="020B0604020202020204" pitchFamily="34" charset="0"/>
              </a:rPr>
              <a:t>Motivation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9B55725-A2EA-4CB3-B32F-B77DEDEA72FD}"/>
              </a:ext>
            </a:extLst>
          </p:cNvPr>
          <p:cNvSpPr/>
          <p:nvPr/>
        </p:nvSpPr>
        <p:spPr>
          <a:xfrm>
            <a:off x="444500" y="914400"/>
            <a:ext cx="8255000" cy="38100"/>
          </a:xfrm>
          <a:prstGeom prst="rect">
            <a:avLst/>
          </a:prstGeom>
          <a:solidFill>
            <a:srgbClr val="0078D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BF7DC51-2143-D0B7-7653-CD93A144AEB7}"/>
              </a:ext>
            </a:extLst>
          </p:cNvPr>
          <p:cNvSpPr/>
          <p:nvPr/>
        </p:nvSpPr>
        <p:spPr>
          <a:xfrm>
            <a:off x="508000" y="1397000"/>
            <a:ext cx="3810000" cy="1587500"/>
          </a:xfrm>
          <a:prstGeom prst="round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0BA5D1-C845-C657-0B1B-5DEED88C60AF}"/>
              </a:ext>
            </a:extLst>
          </p:cNvPr>
          <p:cNvSpPr txBox="1"/>
          <p:nvPr/>
        </p:nvSpPr>
        <p:spPr>
          <a:xfrm>
            <a:off x="635000" y="1498600"/>
            <a:ext cx="3556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600" b="1">
                <a:solidFill>
                  <a:srgbClr val="005AA0"/>
                </a:solidFill>
                <a:latin typeface="Arial" panose="020B0604020202020204" pitchFamily="34" charset="0"/>
              </a:rPr>
              <a:t>Centralized Security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FBC5E3-94E3-D1FA-4203-AA19A6910B3A}"/>
              </a:ext>
            </a:extLst>
          </p:cNvPr>
          <p:cNvSpPr txBox="1"/>
          <p:nvPr/>
        </p:nvSpPr>
        <p:spPr>
          <a:xfrm>
            <a:off x="635000" y="1930400"/>
            <a:ext cx="3556000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323C46"/>
                </a:solidFill>
                <a:latin typeface="Arial" panose="020B0604020202020204" pitchFamily="34" charset="0"/>
              </a:rPr>
              <a:t>Manage outbound access from multiple teams using one security layer.</a:t>
            </a:r>
            <a:endParaRPr lang="en-IN" sz="1300">
              <a:solidFill>
                <a:srgbClr val="323C46"/>
              </a:solidFill>
              <a:latin typeface="Arial" panose="020B06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28481E6-8F95-DEF4-8151-823E4FCBFE77}"/>
              </a:ext>
            </a:extLst>
          </p:cNvPr>
          <p:cNvSpPr/>
          <p:nvPr/>
        </p:nvSpPr>
        <p:spPr>
          <a:xfrm>
            <a:off x="4635500" y="1397000"/>
            <a:ext cx="3810000" cy="1587500"/>
          </a:xfrm>
          <a:prstGeom prst="round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59CE55-08A5-C82A-331C-FEDDFAFEE50C}"/>
              </a:ext>
            </a:extLst>
          </p:cNvPr>
          <p:cNvSpPr txBox="1"/>
          <p:nvPr/>
        </p:nvSpPr>
        <p:spPr>
          <a:xfrm>
            <a:off x="4762500" y="1498600"/>
            <a:ext cx="3556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600" b="1">
                <a:solidFill>
                  <a:srgbClr val="005AA0"/>
                </a:solidFill>
                <a:latin typeface="Arial" panose="020B0604020202020204" pitchFamily="34" charset="0"/>
              </a:rPr>
              <a:t>Least Privilege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1B850F-F508-D930-7B47-76FD2928FD77}"/>
              </a:ext>
            </a:extLst>
          </p:cNvPr>
          <p:cNvSpPr txBox="1"/>
          <p:nvPr/>
        </p:nvSpPr>
        <p:spPr>
          <a:xfrm>
            <a:off x="4762500" y="1930400"/>
            <a:ext cx="3556000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323C46"/>
                </a:solidFill>
                <a:latin typeface="Arial" panose="020B0604020202020204" pitchFamily="34" charset="0"/>
              </a:rPr>
              <a:t>Allow only required destinations instead of unrestricted Internet access.</a:t>
            </a:r>
            <a:endParaRPr lang="en-IN" sz="1300">
              <a:solidFill>
                <a:srgbClr val="323C46"/>
              </a:solidFill>
              <a:latin typeface="Arial" panose="020B0604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80694C1-2CD3-492B-C68F-405C4C1916EB}"/>
              </a:ext>
            </a:extLst>
          </p:cNvPr>
          <p:cNvSpPr/>
          <p:nvPr/>
        </p:nvSpPr>
        <p:spPr>
          <a:xfrm>
            <a:off x="508000" y="3429000"/>
            <a:ext cx="3810000" cy="1587500"/>
          </a:xfrm>
          <a:prstGeom prst="round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0E0FC4A-F8E2-AED7-3C31-B9F4738A50FA}"/>
              </a:ext>
            </a:extLst>
          </p:cNvPr>
          <p:cNvSpPr txBox="1"/>
          <p:nvPr/>
        </p:nvSpPr>
        <p:spPr>
          <a:xfrm>
            <a:off x="635000" y="3530600"/>
            <a:ext cx="3556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600" b="1">
                <a:solidFill>
                  <a:srgbClr val="005AA0"/>
                </a:solidFill>
                <a:latin typeface="Arial" panose="020B0604020202020204" pitchFamily="34" charset="0"/>
              </a:rPr>
              <a:t>Real-World Importance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AA9F3F8-9810-51F3-C09C-1799A7B65937}"/>
              </a:ext>
            </a:extLst>
          </p:cNvPr>
          <p:cNvSpPr txBox="1"/>
          <p:nvPr/>
        </p:nvSpPr>
        <p:spPr>
          <a:xfrm>
            <a:off x="635000" y="3962400"/>
            <a:ext cx="3556000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323C46"/>
                </a:solidFill>
                <a:latin typeface="Arial" panose="020B0604020202020204" pitchFamily="34" charset="0"/>
              </a:rPr>
              <a:t>Enterprise cloud environments commonly require controlled outbound access.</a:t>
            </a:r>
            <a:endParaRPr lang="en-IN" sz="1300">
              <a:solidFill>
                <a:srgbClr val="323C46"/>
              </a:solidFill>
              <a:latin typeface="Arial" panose="020B060402020202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D772945-F64E-2886-4080-6F3138CFD19B}"/>
              </a:ext>
            </a:extLst>
          </p:cNvPr>
          <p:cNvSpPr/>
          <p:nvPr/>
        </p:nvSpPr>
        <p:spPr>
          <a:xfrm>
            <a:off x="4635500" y="3429000"/>
            <a:ext cx="3810000" cy="1587500"/>
          </a:xfrm>
          <a:prstGeom prst="round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3194CB4-95C7-3F64-6B54-A5702C85610F}"/>
              </a:ext>
            </a:extLst>
          </p:cNvPr>
          <p:cNvSpPr txBox="1"/>
          <p:nvPr/>
        </p:nvSpPr>
        <p:spPr>
          <a:xfrm>
            <a:off x="4762500" y="3530600"/>
            <a:ext cx="3556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600" b="1">
                <a:solidFill>
                  <a:srgbClr val="005AA0"/>
                </a:solidFill>
                <a:latin typeface="Arial" panose="020B0604020202020204" pitchFamily="34" charset="0"/>
              </a:rPr>
              <a:t>Visibility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50A1429-3D99-9545-5ABD-195B1BACABDD}"/>
              </a:ext>
            </a:extLst>
          </p:cNvPr>
          <p:cNvSpPr txBox="1"/>
          <p:nvPr/>
        </p:nvSpPr>
        <p:spPr>
          <a:xfrm>
            <a:off x="4762500" y="3962400"/>
            <a:ext cx="3556000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323C46"/>
                </a:solidFill>
                <a:latin typeface="Arial" panose="020B0604020202020204" pitchFamily="34" charset="0"/>
              </a:rPr>
              <a:t>Firewall logs provide information about outbound traffic and policy decisions.</a:t>
            </a:r>
            <a:endParaRPr lang="en-IN" sz="1300">
              <a:solidFill>
                <a:srgbClr val="323C46"/>
              </a:solidFill>
              <a:latin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749AEE7-DDEE-D1F8-BFBA-B9A2D041B5D8}"/>
              </a:ext>
            </a:extLst>
          </p:cNvPr>
          <p:cNvSpPr txBox="1"/>
          <p:nvPr/>
        </p:nvSpPr>
        <p:spPr>
          <a:xfrm>
            <a:off x="444500" y="6413500"/>
            <a:ext cx="8255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900">
                <a:solidFill>
                  <a:srgbClr val="646E78"/>
                </a:solidFill>
                <a:latin typeface="Arial" panose="020B0604020202020204" pitchFamily="34" charset="0"/>
              </a:rPr>
              <a:t>Azure Firewall Centralised Egress Filtering</a:t>
            </a:r>
          </a:p>
        </p:txBody>
      </p:sp>
    </p:spTree>
    <p:extLst>
      <p:ext uri="{BB962C8B-B14F-4D97-AF65-F5344CB8AC3E}">
        <p14:creationId xmlns:p14="http://schemas.microsoft.com/office/powerpoint/2010/main" val="1799178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E38D9D4-A69F-1EB1-B2D9-973A5494D92B}"/>
              </a:ext>
            </a:extLst>
          </p:cNvPr>
          <p:cNvSpPr txBox="1"/>
          <p:nvPr/>
        </p:nvSpPr>
        <p:spPr>
          <a:xfrm>
            <a:off x="444500" y="254000"/>
            <a:ext cx="8255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700" b="1">
                <a:solidFill>
                  <a:srgbClr val="0F2846"/>
                </a:solidFill>
                <a:latin typeface="Arial" panose="020B0604020202020204" pitchFamily="34" charset="0"/>
              </a:rPr>
              <a:t>Objectives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17BDF50-5ECA-D572-8411-8B1C4277541B}"/>
              </a:ext>
            </a:extLst>
          </p:cNvPr>
          <p:cNvSpPr/>
          <p:nvPr/>
        </p:nvSpPr>
        <p:spPr>
          <a:xfrm>
            <a:off x="444500" y="914400"/>
            <a:ext cx="8255000" cy="38100"/>
          </a:xfrm>
          <a:prstGeom prst="rect">
            <a:avLst/>
          </a:prstGeom>
          <a:solidFill>
            <a:srgbClr val="0078D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8C068CD-8B38-64BD-89F3-FA2F19BA49EF}"/>
              </a:ext>
            </a:extLst>
          </p:cNvPr>
          <p:cNvSpPr/>
          <p:nvPr/>
        </p:nvSpPr>
        <p:spPr>
          <a:xfrm>
            <a:off x="508000" y="1333500"/>
            <a:ext cx="3810000" cy="1841500"/>
          </a:xfrm>
          <a:prstGeom prst="round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0B86F9-E91F-8D4E-8D80-FD4B13E4E5A9}"/>
              </a:ext>
            </a:extLst>
          </p:cNvPr>
          <p:cNvSpPr txBox="1"/>
          <p:nvPr/>
        </p:nvSpPr>
        <p:spPr>
          <a:xfrm>
            <a:off x="635000" y="1435100"/>
            <a:ext cx="3556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600" b="1">
                <a:solidFill>
                  <a:srgbClr val="005AA0"/>
                </a:solidFill>
                <a:latin typeface="Arial" panose="020B0604020202020204" pitchFamily="34" charset="0"/>
              </a:rPr>
              <a:t>Main Objective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52B71D-40C4-2FB7-EB8D-AA6CA2F9865E}"/>
              </a:ext>
            </a:extLst>
          </p:cNvPr>
          <p:cNvSpPr txBox="1"/>
          <p:nvPr/>
        </p:nvSpPr>
        <p:spPr>
          <a:xfrm>
            <a:off x="635000" y="1866900"/>
            <a:ext cx="3556000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323C46"/>
                </a:solidFill>
                <a:latin typeface="Arial" panose="020B0604020202020204" pitchFamily="34" charset="0"/>
              </a:rPr>
              <a:t>Route outbound traffic from multiple Azure teams through a centralized Azure Firewall.</a:t>
            </a:r>
            <a:endParaRPr lang="en-IN" sz="1300">
              <a:solidFill>
                <a:srgbClr val="323C46"/>
              </a:solidFill>
              <a:latin typeface="Arial" panose="020B06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9398784-DF5C-A03F-01B8-1D6190F811D0}"/>
              </a:ext>
            </a:extLst>
          </p:cNvPr>
          <p:cNvSpPr/>
          <p:nvPr/>
        </p:nvSpPr>
        <p:spPr>
          <a:xfrm>
            <a:off x="4635500" y="1333500"/>
            <a:ext cx="3810000" cy="1841500"/>
          </a:xfrm>
          <a:prstGeom prst="round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EA0336-D073-8233-0292-FB7E6E8D9AB3}"/>
              </a:ext>
            </a:extLst>
          </p:cNvPr>
          <p:cNvSpPr txBox="1"/>
          <p:nvPr/>
        </p:nvSpPr>
        <p:spPr>
          <a:xfrm>
            <a:off x="4762500" y="1435100"/>
            <a:ext cx="3556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600" b="1">
                <a:solidFill>
                  <a:srgbClr val="005AA0"/>
                </a:solidFill>
                <a:latin typeface="Arial" panose="020B0604020202020204" pitchFamily="34" charset="0"/>
              </a:rPr>
              <a:t>Objective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A99285-4B14-2803-475D-AF36A1119BC6}"/>
              </a:ext>
            </a:extLst>
          </p:cNvPr>
          <p:cNvSpPr txBox="1"/>
          <p:nvPr/>
        </p:nvSpPr>
        <p:spPr>
          <a:xfrm>
            <a:off x="4762500" y="1866900"/>
            <a:ext cx="3556000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323C46"/>
                </a:solidFill>
                <a:latin typeface="Arial" panose="020B0604020202020204" pitchFamily="34" charset="0"/>
              </a:rPr>
              <a:t>Configure User Defined Routes to direct Internet-bound traffic toward the firewall.</a:t>
            </a:r>
            <a:endParaRPr lang="en-IN" sz="1300">
              <a:solidFill>
                <a:srgbClr val="323C46"/>
              </a:solidFill>
              <a:latin typeface="Arial" panose="020B0604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487AE78-7268-8754-0A26-B383148658AB}"/>
              </a:ext>
            </a:extLst>
          </p:cNvPr>
          <p:cNvSpPr/>
          <p:nvPr/>
        </p:nvSpPr>
        <p:spPr>
          <a:xfrm>
            <a:off x="508000" y="3619500"/>
            <a:ext cx="3810000" cy="1841500"/>
          </a:xfrm>
          <a:prstGeom prst="round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46A5A2B-0501-B8C2-ED03-F6C466BD01FE}"/>
              </a:ext>
            </a:extLst>
          </p:cNvPr>
          <p:cNvSpPr txBox="1"/>
          <p:nvPr/>
        </p:nvSpPr>
        <p:spPr>
          <a:xfrm>
            <a:off x="635000" y="3721100"/>
            <a:ext cx="3556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600" b="1">
                <a:solidFill>
                  <a:srgbClr val="005AA0"/>
                </a:solidFill>
                <a:latin typeface="Arial" panose="020B0604020202020204" pitchFamily="34" charset="0"/>
              </a:rPr>
              <a:t>Objective 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6EABC0-A88C-27A2-E46E-397C2E8E20B0}"/>
              </a:ext>
            </a:extLst>
          </p:cNvPr>
          <p:cNvSpPr txBox="1"/>
          <p:nvPr/>
        </p:nvSpPr>
        <p:spPr>
          <a:xfrm>
            <a:off x="635000" y="4152900"/>
            <a:ext cx="3556000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323C46"/>
                </a:solidFill>
                <a:latin typeface="Arial" panose="020B0604020202020204" pitchFamily="34" charset="0"/>
              </a:rPr>
              <a:t>Create an FQDN allowlist for approved external destinations.</a:t>
            </a:r>
            <a:endParaRPr lang="en-IN" sz="1300">
              <a:solidFill>
                <a:srgbClr val="323C46"/>
              </a:solidFill>
              <a:latin typeface="Arial" panose="020B060402020202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50552A8-24EC-E5B3-D6C9-ADE5D21154C1}"/>
              </a:ext>
            </a:extLst>
          </p:cNvPr>
          <p:cNvSpPr/>
          <p:nvPr/>
        </p:nvSpPr>
        <p:spPr>
          <a:xfrm>
            <a:off x="4635500" y="3619500"/>
            <a:ext cx="3810000" cy="1841500"/>
          </a:xfrm>
          <a:prstGeom prst="round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5B85CF9-79E4-0A2C-D259-60D7AB73E978}"/>
              </a:ext>
            </a:extLst>
          </p:cNvPr>
          <p:cNvSpPr txBox="1"/>
          <p:nvPr/>
        </p:nvSpPr>
        <p:spPr>
          <a:xfrm>
            <a:off x="4762500" y="3721100"/>
            <a:ext cx="3556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600" b="1">
                <a:solidFill>
                  <a:srgbClr val="005AA0"/>
                </a:solidFill>
                <a:latin typeface="Arial" panose="020B0604020202020204" pitchFamily="34" charset="0"/>
              </a:rPr>
              <a:t>Objective 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57808B0-9472-91AA-1303-8187A83312BA}"/>
              </a:ext>
            </a:extLst>
          </p:cNvPr>
          <p:cNvSpPr txBox="1"/>
          <p:nvPr/>
        </p:nvSpPr>
        <p:spPr>
          <a:xfrm>
            <a:off x="4762500" y="4152900"/>
            <a:ext cx="3556000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323C46"/>
                </a:solidFill>
                <a:latin typeface="Arial" panose="020B0604020202020204" pitchFamily="34" charset="0"/>
              </a:rPr>
              <a:t>Test and demonstrate allowed and blocked outbound requests.</a:t>
            </a:r>
            <a:endParaRPr lang="en-IN" sz="1300">
              <a:solidFill>
                <a:srgbClr val="323C46"/>
              </a:solidFill>
              <a:latin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DF7F7DF-BAAD-8053-C17E-44D4301C8A5D}"/>
              </a:ext>
            </a:extLst>
          </p:cNvPr>
          <p:cNvSpPr txBox="1"/>
          <p:nvPr/>
        </p:nvSpPr>
        <p:spPr>
          <a:xfrm>
            <a:off x="444500" y="6413500"/>
            <a:ext cx="8255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900">
                <a:solidFill>
                  <a:srgbClr val="646E78"/>
                </a:solidFill>
                <a:latin typeface="Arial" panose="020B0604020202020204" pitchFamily="34" charset="0"/>
              </a:rPr>
              <a:t>Azure Firewall Centralised Egress Filtering</a:t>
            </a:r>
          </a:p>
        </p:txBody>
      </p:sp>
    </p:spTree>
    <p:extLst>
      <p:ext uri="{BB962C8B-B14F-4D97-AF65-F5344CB8AC3E}">
        <p14:creationId xmlns:p14="http://schemas.microsoft.com/office/powerpoint/2010/main" val="42497004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86B6955-B8B7-65C2-15AF-D81F4D75B467}"/>
              </a:ext>
            </a:extLst>
          </p:cNvPr>
          <p:cNvSpPr txBox="1"/>
          <p:nvPr/>
        </p:nvSpPr>
        <p:spPr>
          <a:xfrm>
            <a:off x="444500" y="254000"/>
            <a:ext cx="8255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700" b="1">
                <a:solidFill>
                  <a:srgbClr val="0F2846"/>
                </a:solidFill>
                <a:latin typeface="Arial" panose="020B0604020202020204" pitchFamily="34" charset="0"/>
              </a:rPr>
              <a:t>Existing System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4D6825C-7A18-EA47-E72A-9A595F99A08A}"/>
              </a:ext>
            </a:extLst>
          </p:cNvPr>
          <p:cNvSpPr/>
          <p:nvPr/>
        </p:nvSpPr>
        <p:spPr>
          <a:xfrm>
            <a:off x="444500" y="914400"/>
            <a:ext cx="8255000" cy="38100"/>
          </a:xfrm>
          <a:prstGeom prst="rect">
            <a:avLst/>
          </a:prstGeom>
          <a:solidFill>
            <a:srgbClr val="0078D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EA757A9-E927-BFBA-9FE4-EDC64A949FFD}"/>
              </a:ext>
            </a:extLst>
          </p:cNvPr>
          <p:cNvSpPr/>
          <p:nvPr/>
        </p:nvSpPr>
        <p:spPr>
          <a:xfrm>
            <a:off x="508000" y="1397000"/>
            <a:ext cx="3810000" cy="2032000"/>
          </a:xfrm>
          <a:prstGeom prst="round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F5F205-5014-9131-3A2A-721A1730B6D8}"/>
              </a:ext>
            </a:extLst>
          </p:cNvPr>
          <p:cNvSpPr txBox="1"/>
          <p:nvPr/>
        </p:nvSpPr>
        <p:spPr>
          <a:xfrm>
            <a:off x="635000" y="1498600"/>
            <a:ext cx="3556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600" b="1">
                <a:solidFill>
                  <a:srgbClr val="005AA0"/>
                </a:solidFill>
                <a:latin typeface="Arial" panose="020B0604020202020204" pitchFamily="34" charset="0"/>
              </a:rPr>
              <a:t>Current Approach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DA1CDC-AAED-12E3-815C-BA2512B66846}"/>
              </a:ext>
            </a:extLst>
          </p:cNvPr>
          <p:cNvSpPr txBox="1"/>
          <p:nvPr/>
        </p:nvSpPr>
        <p:spPr>
          <a:xfrm>
            <a:off x="635000" y="1930400"/>
            <a:ext cx="3556000" cy="6924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323C46"/>
                </a:solidFill>
                <a:latin typeface="Arial" panose="020B0604020202020204" pitchFamily="34" charset="0"/>
              </a:rPr>
              <a:t>Cloud workloads may access the Internet through available outbound connectivity without a centralized filtering point.</a:t>
            </a:r>
            <a:endParaRPr lang="en-IN" sz="1300">
              <a:solidFill>
                <a:srgbClr val="323C46"/>
              </a:solidFill>
              <a:latin typeface="Arial" panose="020B06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FEB584F-FF08-6165-B7F1-00DAD1E9CD25}"/>
              </a:ext>
            </a:extLst>
          </p:cNvPr>
          <p:cNvSpPr/>
          <p:nvPr/>
        </p:nvSpPr>
        <p:spPr>
          <a:xfrm>
            <a:off x="4635500" y="1397000"/>
            <a:ext cx="3810000" cy="2032000"/>
          </a:xfrm>
          <a:prstGeom prst="round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1BDE20-5EF3-D8D4-6DBA-206D1D70BA5B}"/>
              </a:ext>
            </a:extLst>
          </p:cNvPr>
          <p:cNvSpPr txBox="1"/>
          <p:nvPr/>
        </p:nvSpPr>
        <p:spPr>
          <a:xfrm>
            <a:off x="4762500" y="1498600"/>
            <a:ext cx="3556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600" b="1">
                <a:solidFill>
                  <a:srgbClr val="005AA0"/>
                </a:solidFill>
                <a:latin typeface="Arial" panose="020B0604020202020204" pitchFamily="34" charset="0"/>
              </a:rPr>
              <a:t>Limitation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B809F8-4D3B-420B-8D35-E27984F730F4}"/>
              </a:ext>
            </a:extLst>
          </p:cNvPr>
          <p:cNvSpPr txBox="1"/>
          <p:nvPr/>
        </p:nvSpPr>
        <p:spPr>
          <a:xfrm>
            <a:off x="4762500" y="1930400"/>
            <a:ext cx="3556000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323C46"/>
                </a:solidFill>
                <a:latin typeface="Arial" panose="020B0604020202020204" pitchFamily="34" charset="0"/>
              </a:rPr>
              <a:t>Security policies may differ between workloads or teams.</a:t>
            </a:r>
            <a:endParaRPr lang="en-IN" sz="1300">
              <a:solidFill>
                <a:srgbClr val="323C46"/>
              </a:solidFill>
              <a:latin typeface="Arial" panose="020B0604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096F067-F970-3719-F1DC-27094047973F}"/>
              </a:ext>
            </a:extLst>
          </p:cNvPr>
          <p:cNvSpPr/>
          <p:nvPr/>
        </p:nvSpPr>
        <p:spPr>
          <a:xfrm>
            <a:off x="508000" y="3873500"/>
            <a:ext cx="3810000" cy="1714500"/>
          </a:xfrm>
          <a:prstGeom prst="round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6C85C25-F3C9-AC4B-0E74-305BB9B36BBB}"/>
              </a:ext>
            </a:extLst>
          </p:cNvPr>
          <p:cNvSpPr txBox="1"/>
          <p:nvPr/>
        </p:nvSpPr>
        <p:spPr>
          <a:xfrm>
            <a:off x="635000" y="3975100"/>
            <a:ext cx="3556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600" b="1">
                <a:solidFill>
                  <a:srgbClr val="005AA0"/>
                </a:solidFill>
                <a:latin typeface="Arial" panose="020B0604020202020204" pitchFamily="34" charset="0"/>
              </a:rPr>
              <a:t>Limitation 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000638-179B-110B-D759-9E57B3524076}"/>
              </a:ext>
            </a:extLst>
          </p:cNvPr>
          <p:cNvSpPr txBox="1"/>
          <p:nvPr/>
        </p:nvSpPr>
        <p:spPr>
          <a:xfrm>
            <a:off x="635000" y="4406900"/>
            <a:ext cx="3556000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323C46"/>
                </a:solidFill>
                <a:latin typeface="Arial" panose="020B0604020202020204" pitchFamily="34" charset="0"/>
              </a:rPr>
              <a:t>Unrestricted outbound access increases the potential attack surface.</a:t>
            </a:r>
            <a:endParaRPr lang="en-IN" sz="1300">
              <a:solidFill>
                <a:srgbClr val="323C46"/>
              </a:solidFill>
              <a:latin typeface="Arial" panose="020B060402020202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A534CBF-A670-0A33-B1D1-43921FF0DA16}"/>
              </a:ext>
            </a:extLst>
          </p:cNvPr>
          <p:cNvSpPr/>
          <p:nvPr/>
        </p:nvSpPr>
        <p:spPr>
          <a:xfrm>
            <a:off x="4635500" y="3873500"/>
            <a:ext cx="3810000" cy="1714500"/>
          </a:xfrm>
          <a:prstGeom prst="round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EADD261-9203-125F-E797-375564D826F2}"/>
              </a:ext>
            </a:extLst>
          </p:cNvPr>
          <p:cNvSpPr txBox="1"/>
          <p:nvPr/>
        </p:nvSpPr>
        <p:spPr>
          <a:xfrm>
            <a:off x="4762500" y="3975100"/>
            <a:ext cx="3556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600" b="1">
                <a:solidFill>
                  <a:srgbClr val="005AA0"/>
                </a:solidFill>
                <a:latin typeface="Arial" panose="020B0604020202020204" pitchFamily="34" charset="0"/>
              </a:rPr>
              <a:t>Limitation 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2EE7157-72E8-F36E-B5B9-F9556970B0A6}"/>
              </a:ext>
            </a:extLst>
          </p:cNvPr>
          <p:cNvSpPr txBox="1"/>
          <p:nvPr/>
        </p:nvSpPr>
        <p:spPr>
          <a:xfrm>
            <a:off x="4762500" y="4406900"/>
            <a:ext cx="3556000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323C46"/>
                </a:solidFill>
                <a:latin typeface="Arial" panose="020B0604020202020204" pitchFamily="34" charset="0"/>
              </a:rPr>
              <a:t>Centralized monitoring and policy enforcement are more difficult.</a:t>
            </a:r>
            <a:endParaRPr lang="en-IN" sz="1300">
              <a:solidFill>
                <a:srgbClr val="323C46"/>
              </a:solidFill>
              <a:latin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8009C12-C576-8966-DC92-A8FCA047D3CF}"/>
              </a:ext>
            </a:extLst>
          </p:cNvPr>
          <p:cNvSpPr txBox="1"/>
          <p:nvPr/>
        </p:nvSpPr>
        <p:spPr>
          <a:xfrm>
            <a:off x="444500" y="6413500"/>
            <a:ext cx="8255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900">
                <a:solidFill>
                  <a:srgbClr val="646E78"/>
                </a:solidFill>
                <a:latin typeface="Arial" panose="020B0604020202020204" pitchFamily="34" charset="0"/>
              </a:rPr>
              <a:t>Azure Firewall Centralised Egress Filtering</a:t>
            </a:r>
          </a:p>
        </p:txBody>
      </p:sp>
    </p:spTree>
    <p:extLst>
      <p:ext uri="{BB962C8B-B14F-4D97-AF65-F5344CB8AC3E}">
        <p14:creationId xmlns:p14="http://schemas.microsoft.com/office/powerpoint/2010/main" val="38029818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71B8B9E-97AC-1CC2-C9A9-6D0E7244C353}"/>
              </a:ext>
            </a:extLst>
          </p:cNvPr>
          <p:cNvSpPr txBox="1"/>
          <p:nvPr/>
        </p:nvSpPr>
        <p:spPr>
          <a:xfrm>
            <a:off x="444500" y="254000"/>
            <a:ext cx="8255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700" b="1">
                <a:solidFill>
                  <a:srgbClr val="0F2846"/>
                </a:solidFill>
                <a:latin typeface="Arial" panose="020B0604020202020204" pitchFamily="34" charset="0"/>
              </a:rPr>
              <a:t>Proposed System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ECA8080-B685-F6BD-9240-88CC8F585E2D}"/>
              </a:ext>
            </a:extLst>
          </p:cNvPr>
          <p:cNvSpPr/>
          <p:nvPr/>
        </p:nvSpPr>
        <p:spPr>
          <a:xfrm>
            <a:off x="444500" y="914400"/>
            <a:ext cx="8255000" cy="38100"/>
          </a:xfrm>
          <a:prstGeom prst="rect">
            <a:avLst/>
          </a:prstGeom>
          <a:solidFill>
            <a:srgbClr val="0078D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262657-8B82-36A1-0973-FBAA0504FAD7}"/>
              </a:ext>
            </a:extLst>
          </p:cNvPr>
          <p:cNvSpPr txBox="1"/>
          <p:nvPr/>
        </p:nvSpPr>
        <p:spPr>
          <a:xfrm>
            <a:off x="635000" y="1333500"/>
            <a:ext cx="7620000" cy="192360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700">
                <a:solidFill>
                  <a:srgbClr val="28323C"/>
                </a:solidFill>
                <a:latin typeface="Arial" panose="020B0604020202020204" pitchFamily="34" charset="0"/>
              </a:rPr>
              <a:t>The proposed architecture introduces Azure Firewall as a centralized egress security layer.</a:t>
            </a:r>
          </a:p>
          <a:p>
            <a:r>
              <a:rPr lang="en-US" sz="1700">
                <a:solidFill>
                  <a:srgbClr val="28323C"/>
                </a:solidFill>
                <a:latin typeface="Arial" panose="020B0604020202020204" pitchFamily="34" charset="0"/>
              </a:rPr>
              <a:t>• Each team operates in its own subnet.</a:t>
            </a:r>
          </a:p>
          <a:p>
            <a:r>
              <a:rPr lang="en-US" sz="1700">
                <a:solidFill>
                  <a:srgbClr val="28323C"/>
                </a:solidFill>
                <a:latin typeface="Arial" panose="020B0604020202020204" pitchFamily="34" charset="0"/>
              </a:rPr>
              <a:t>• User Defined Routes send Internet-bound traffic to Azure Firewall.</a:t>
            </a:r>
          </a:p>
          <a:p>
            <a:r>
              <a:rPr lang="en-US" sz="1700">
                <a:solidFill>
                  <a:srgbClr val="28323C"/>
                </a:solidFill>
                <a:latin typeface="Arial" panose="020B0604020202020204" pitchFamily="34" charset="0"/>
              </a:rPr>
              <a:t>• Firewall policy evaluates outbound requests.</a:t>
            </a:r>
          </a:p>
          <a:p>
            <a:r>
              <a:rPr lang="en-US" sz="1700">
                <a:solidFill>
                  <a:srgbClr val="28323C"/>
                </a:solidFill>
                <a:latin typeface="Arial" panose="020B0604020202020204" pitchFamily="34" charset="0"/>
              </a:rPr>
              <a:t>• Approved FQDNs are allowed.</a:t>
            </a:r>
          </a:p>
          <a:p>
            <a:r>
              <a:rPr lang="en-US" sz="1700">
                <a:solidFill>
                  <a:srgbClr val="28323C"/>
                </a:solidFill>
                <a:latin typeface="Arial" panose="020B0604020202020204" pitchFamily="34" charset="0"/>
              </a:rPr>
              <a:t>• Non-approved destinations are denied.</a:t>
            </a:r>
            <a:endParaRPr lang="en-IN" sz="1700">
              <a:solidFill>
                <a:srgbClr val="28323C"/>
              </a:solidFill>
              <a:latin typeface="Arial" panose="020B06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7FB286C-D7F8-C5C2-66D3-D0359C7B82E1}"/>
              </a:ext>
            </a:extLst>
          </p:cNvPr>
          <p:cNvSpPr/>
          <p:nvPr/>
        </p:nvSpPr>
        <p:spPr>
          <a:xfrm>
            <a:off x="889000" y="5080000"/>
            <a:ext cx="6985000" cy="889000"/>
          </a:xfrm>
          <a:prstGeom prst="round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070C5E-E93E-A649-F616-5A271A0A1464}"/>
              </a:ext>
            </a:extLst>
          </p:cNvPr>
          <p:cNvSpPr txBox="1"/>
          <p:nvPr/>
        </p:nvSpPr>
        <p:spPr>
          <a:xfrm>
            <a:off x="1016000" y="5181600"/>
            <a:ext cx="6731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600" b="1">
                <a:solidFill>
                  <a:srgbClr val="005AA0"/>
                </a:solidFill>
                <a:latin typeface="Arial" panose="020B0604020202020204" pitchFamily="34" charset="0"/>
              </a:rPr>
              <a:t>Advantages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0EC9FB-FFDD-4BE5-DD08-8E9FC496B796}"/>
              </a:ext>
            </a:extLst>
          </p:cNvPr>
          <p:cNvSpPr txBox="1"/>
          <p:nvPr/>
        </p:nvSpPr>
        <p:spPr>
          <a:xfrm>
            <a:off x="1016000" y="5613400"/>
            <a:ext cx="6731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300">
                <a:solidFill>
                  <a:srgbClr val="323C46"/>
                </a:solidFill>
                <a:latin typeface="Arial" panose="020B0604020202020204" pitchFamily="34" charset="0"/>
              </a:rPr>
              <a:t>Centralized control | Consistent policy | FQDN filtering | Better visibility | Easier auditing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62E457-90A7-84E7-262B-6A2F794923D1}"/>
              </a:ext>
            </a:extLst>
          </p:cNvPr>
          <p:cNvSpPr txBox="1"/>
          <p:nvPr/>
        </p:nvSpPr>
        <p:spPr>
          <a:xfrm>
            <a:off x="444500" y="6413500"/>
            <a:ext cx="8255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900">
                <a:solidFill>
                  <a:srgbClr val="646E78"/>
                </a:solidFill>
                <a:latin typeface="Arial" panose="020B0604020202020204" pitchFamily="34" charset="0"/>
              </a:rPr>
              <a:t>Azure Firewall Centralised Egress Filtering</a:t>
            </a:r>
          </a:p>
        </p:txBody>
      </p:sp>
    </p:spTree>
    <p:extLst>
      <p:ext uri="{BB962C8B-B14F-4D97-AF65-F5344CB8AC3E}">
        <p14:creationId xmlns:p14="http://schemas.microsoft.com/office/powerpoint/2010/main" val="26050320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8E3B9FC-75A1-817D-4AF8-1D067753F91C}"/>
              </a:ext>
            </a:extLst>
          </p:cNvPr>
          <p:cNvSpPr txBox="1"/>
          <p:nvPr/>
        </p:nvSpPr>
        <p:spPr>
          <a:xfrm>
            <a:off x="444500" y="254000"/>
            <a:ext cx="8255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700" b="1">
                <a:solidFill>
                  <a:srgbClr val="0F2846"/>
                </a:solidFill>
                <a:latin typeface="Arial" panose="020B0604020202020204" pitchFamily="34" charset="0"/>
              </a:rPr>
              <a:t>Literature Survey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E414A61-79B6-4E94-24DB-4DCB411B9706}"/>
              </a:ext>
            </a:extLst>
          </p:cNvPr>
          <p:cNvSpPr/>
          <p:nvPr/>
        </p:nvSpPr>
        <p:spPr>
          <a:xfrm>
            <a:off x="444500" y="914400"/>
            <a:ext cx="8255000" cy="38100"/>
          </a:xfrm>
          <a:prstGeom prst="rect">
            <a:avLst/>
          </a:prstGeom>
          <a:solidFill>
            <a:srgbClr val="0078D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1A8D164-C116-9F58-310C-3BCAD9C6EC83}"/>
              </a:ext>
            </a:extLst>
          </p:cNvPr>
          <p:cNvSpPr/>
          <p:nvPr/>
        </p:nvSpPr>
        <p:spPr>
          <a:xfrm>
            <a:off x="381000" y="1270000"/>
            <a:ext cx="2603500" cy="1841500"/>
          </a:xfrm>
          <a:prstGeom prst="round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0FEA97-E42E-0ADB-61C9-2686BD481C18}"/>
              </a:ext>
            </a:extLst>
          </p:cNvPr>
          <p:cNvSpPr txBox="1"/>
          <p:nvPr/>
        </p:nvSpPr>
        <p:spPr>
          <a:xfrm>
            <a:off x="508000" y="1371600"/>
            <a:ext cx="23495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600" b="1">
                <a:solidFill>
                  <a:srgbClr val="005AA0"/>
                </a:solidFill>
                <a:latin typeface="Arial" panose="020B0604020202020204" pitchFamily="34" charset="0"/>
              </a:rPr>
              <a:t>1. Azure Firewall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951CC4-B674-C2AB-0C40-DE8AADAD2F3F}"/>
              </a:ext>
            </a:extLst>
          </p:cNvPr>
          <p:cNvSpPr txBox="1"/>
          <p:nvPr/>
        </p:nvSpPr>
        <p:spPr>
          <a:xfrm>
            <a:off x="508000" y="1803400"/>
            <a:ext cx="2349500" cy="89255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323C46"/>
                </a:solidFill>
                <a:latin typeface="Arial" panose="020B0604020202020204" pitchFamily="34" charset="0"/>
              </a:rPr>
              <a:t>Microsoft documentation explains Azure Firewall architecture, rules and traffic processing.</a:t>
            </a:r>
            <a:endParaRPr lang="en-IN" sz="1300">
              <a:solidFill>
                <a:srgbClr val="323C46"/>
              </a:solidFill>
              <a:latin typeface="Arial" panose="020B06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5468B4A-CFD9-2798-E05E-474F2BDAD18B}"/>
              </a:ext>
            </a:extLst>
          </p:cNvPr>
          <p:cNvSpPr/>
          <p:nvPr/>
        </p:nvSpPr>
        <p:spPr>
          <a:xfrm>
            <a:off x="3175000" y="1270000"/>
            <a:ext cx="2603500" cy="1841500"/>
          </a:xfrm>
          <a:prstGeom prst="round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BC8C04-D977-8377-B3B5-90F33F0605A8}"/>
              </a:ext>
            </a:extLst>
          </p:cNvPr>
          <p:cNvSpPr txBox="1"/>
          <p:nvPr/>
        </p:nvSpPr>
        <p:spPr>
          <a:xfrm>
            <a:off x="3302000" y="1371600"/>
            <a:ext cx="23495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600" b="1">
                <a:solidFill>
                  <a:srgbClr val="005AA0"/>
                </a:solidFill>
                <a:latin typeface="Arial" panose="020B0604020202020204" pitchFamily="34" charset="0"/>
              </a:rPr>
              <a:t>2. Cloud Network Security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26D559-BD14-981F-7C82-3FF15695A198}"/>
              </a:ext>
            </a:extLst>
          </p:cNvPr>
          <p:cNvSpPr txBox="1"/>
          <p:nvPr/>
        </p:nvSpPr>
        <p:spPr>
          <a:xfrm>
            <a:off x="3302000" y="1803400"/>
            <a:ext cx="2349500" cy="6924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323C46"/>
                </a:solidFill>
                <a:latin typeface="Arial" panose="020B0604020202020204" pitchFamily="34" charset="0"/>
              </a:rPr>
              <a:t>Research on centralized security controls for cloud-based networks.</a:t>
            </a:r>
            <a:endParaRPr lang="en-IN" sz="1300">
              <a:solidFill>
                <a:srgbClr val="323C46"/>
              </a:solidFill>
              <a:latin typeface="Arial" panose="020B0604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280E373-4F00-5A8F-FABA-7E91B46D3882}"/>
              </a:ext>
            </a:extLst>
          </p:cNvPr>
          <p:cNvSpPr/>
          <p:nvPr/>
        </p:nvSpPr>
        <p:spPr>
          <a:xfrm>
            <a:off x="5969000" y="1270000"/>
            <a:ext cx="2603500" cy="1841500"/>
          </a:xfrm>
          <a:prstGeom prst="round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F05C6BA-9843-C12C-C9BA-214E0AC45F56}"/>
              </a:ext>
            </a:extLst>
          </p:cNvPr>
          <p:cNvSpPr txBox="1"/>
          <p:nvPr/>
        </p:nvSpPr>
        <p:spPr>
          <a:xfrm>
            <a:off x="6096000" y="1371600"/>
            <a:ext cx="23495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600" b="1">
                <a:solidFill>
                  <a:srgbClr val="005AA0"/>
                </a:solidFill>
                <a:latin typeface="Arial" panose="020B0604020202020204" pitchFamily="34" charset="0"/>
              </a:rPr>
              <a:t>3. Egress Filtering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AC0616F-5456-3FC7-9A0C-E7D00F67B73F}"/>
              </a:ext>
            </a:extLst>
          </p:cNvPr>
          <p:cNvSpPr txBox="1"/>
          <p:nvPr/>
        </p:nvSpPr>
        <p:spPr>
          <a:xfrm>
            <a:off x="6096000" y="1803400"/>
            <a:ext cx="2349500" cy="6924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323C46"/>
                </a:solidFill>
                <a:latin typeface="Arial" panose="020B0604020202020204" pitchFamily="34" charset="0"/>
              </a:rPr>
              <a:t>Research on controlling outbound traffic from enterprise networks.</a:t>
            </a:r>
            <a:endParaRPr lang="en-IN" sz="1300">
              <a:solidFill>
                <a:srgbClr val="323C46"/>
              </a:solidFill>
              <a:latin typeface="Arial" panose="020B060402020202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C08895A-1AF3-E03D-73D2-5A2B75846CA3}"/>
              </a:ext>
            </a:extLst>
          </p:cNvPr>
          <p:cNvSpPr/>
          <p:nvPr/>
        </p:nvSpPr>
        <p:spPr>
          <a:xfrm>
            <a:off x="1778000" y="3556000"/>
            <a:ext cx="2603500" cy="1841500"/>
          </a:xfrm>
          <a:prstGeom prst="round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C09DCCF-114D-9814-C60B-FA4C551A6295}"/>
              </a:ext>
            </a:extLst>
          </p:cNvPr>
          <p:cNvSpPr txBox="1"/>
          <p:nvPr/>
        </p:nvSpPr>
        <p:spPr>
          <a:xfrm>
            <a:off x="1905000" y="3657600"/>
            <a:ext cx="23495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600" b="1">
                <a:solidFill>
                  <a:srgbClr val="005AA0"/>
                </a:solidFill>
                <a:latin typeface="Arial" panose="020B0604020202020204" pitchFamily="34" charset="0"/>
              </a:rPr>
              <a:t>4. Zero Trust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CDA0B92-614D-E9A5-BF6A-2257B01511AB}"/>
              </a:ext>
            </a:extLst>
          </p:cNvPr>
          <p:cNvSpPr txBox="1"/>
          <p:nvPr/>
        </p:nvSpPr>
        <p:spPr>
          <a:xfrm>
            <a:off x="1905000" y="4089400"/>
            <a:ext cx="2349500" cy="6924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323C46"/>
                </a:solidFill>
                <a:latin typeface="Arial" panose="020B0604020202020204" pitchFamily="34" charset="0"/>
              </a:rPr>
              <a:t>Research emphasizes explicit verification and least-privilege access.</a:t>
            </a:r>
            <a:endParaRPr lang="en-IN" sz="1300">
              <a:solidFill>
                <a:srgbClr val="323C46"/>
              </a:solidFill>
              <a:latin typeface="Arial" panose="020B0604020202020204" pitchFamily="34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D138947-5602-0B02-CC5C-13500EBA548B}"/>
              </a:ext>
            </a:extLst>
          </p:cNvPr>
          <p:cNvSpPr/>
          <p:nvPr/>
        </p:nvSpPr>
        <p:spPr>
          <a:xfrm>
            <a:off x="4572000" y="3556000"/>
            <a:ext cx="2603500" cy="1841500"/>
          </a:xfrm>
          <a:prstGeom prst="round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EF46A8A-EB6C-7BE7-2E61-CFEE1E0BA2AD}"/>
              </a:ext>
            </a:extLst>
          </p:cNvPr>
          <p:cNvSpPr txBox="1"/>
          <p:nvPr/>
        </p:nvSpPr>
        <p:spPr>
          <a:xfrm>
            <a:off x="4699000" y="3657600"/>
            <a:ext cx="23495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600" b="1">
                <a:solidFill>
                  <a:srgbClr val="005AA0"/>
                </a:solidFill>
                <a:latin typeface="Arial" panose="020B0604020202020204" pitchFamily="34" charset="0"/>
              </a:rPr>
              <a:t>5. Cloud Firewall Projects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3EAA63B-4FE4-0B78-A7EF-17E6EC6014C3}"/>
              </a:ext>
            </a:extLst>
          </p:cNvPr>
          <p:cNvSpPr txBox="1"/>
          <p:nvPr/>
        </p:nvSpPr>
        <p:spPr>
          <a:xfrm>
            <a:off x="4699000" y="4089400"/>
            <a:ext cx="2349500" cy="89255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323C46"/>
                </a:solidFill>
                <a:latin typeface="Arial" panose="020B0604020202020204" pitchFamily="34" charset="0"/>
              </a:rPr>
              <a:t>Existing projects demonstrate centralized inspection and policy-based traffic control.</a:t>
            </a:r>
            <a:endParaRPr lang="en-IN" sz="1300">
              <a:solidFill>
                <a:srgbClr val="323C46"/>
              </a:solidFill>
              <a:latin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BBFCD49-0B2B-520F-E3D6-59DC5E54EC6E}"/>
              </a:ext>
            </a:extLst>
          </p:cNvPr>
          <p:cNvSpPr txBox="1"/>
          <p:nvPr/>
        </p:nvSpPr>
        <p:spPr>
          <a:xfrm>
            <a:off x="444500" y="6413500"/>
            <a:ext cx="8255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900">
                <a:solidFill>
                  <a:srgbClr val="646E78"/>
                </a:solidFill>
                <a:latin typeface="Arial" panose="020B0604020202020204" pitchFamily="34" charset="0"/>
              </a:rPr>
              <a:t>Azure Firewall Centralised Egress Filtering</a:t>
            </a:r>
          </a:p>
        </p:txBody>
      </p:sp>
    </p:spTree>
    <p:extLst>
      <p:ext uri="{BB962C8B-B14F-4D97-AF65-F5344CB8AC3E}">
        <p14:creationId xmlns:p14="http://schemas.microsoft.com/office/powerpoint/2010/main" val="11429072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022900C-7B0C-83B1-6DAE-C9521E122EE5}"/>
              </a:ext>
            </a:extLst>
          </p:cNvPr>
          <p:cNvSpPr txBox="1"/>
          <p:nvPr/>
        </p:nvSpPr>
        <p:spPr>
          <a:xfrm>
            <a:off x="444500" y="254000"/>
            <a:ext cx="8255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700" b="1">
                <a:solidFill>
                  <a:srgbClr val="0F2846"/>
                </a:solidFill>
                <a:latin typeface="Arial" panose="020B0604020202020204" pitchFamily="34" charset="0"/>
              </a:rPr>
              <a:t>Research Gap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375D678-9E9F-3D55-4593-AA4BA6E60C32}"/>
              </a:ext>
            </a:extLst>
          </p:cNvPr>
          <p:cNvSpPr/>
          <p:nvPr/>
        </p:nvSpPr>
        <p:spPr>
          <a:xfrm>
            <a:off x="444500" y="914400"/>
            <a:ext cx="8255000" cy="38100"/>
          </a:xfrm>
          <a:prstGeom prst="rect">
            <a:avLst/>
          </a:prstGeom>
          <a:solidFill>
            <a:srgbClr val="0078D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9B9C75-F19A-0771-6DC0-FCB6BF3334AA}"/>
              </a:ext>
            </a:extLst>
          </p:cNvPr>
          <p:cNvSpPr txBox="1"/>
          <p:nvPr/>
        </p:nvSpPr>
        <p:spPr>
          <a:xfrm>
            <a:off x="635000" y="1333500"/>
            <a:ext cx="7620000" cy="140038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700">
                <a:solidFill>
                  <a:srgbClr val="28323C"/>
                </a:solidFill>
                <a:latin typeface="Arial" panose="020B0604020202020204" pitchFamily="34" charset="0"/>
              </a:rPr>
              <a:t>Existing cloud security solutions provide multiple security mechanisms.</a:t>
            </a:r>
          </a:p>
          <a:p>
            <a:r>
              <a:rPr lang="en-US" sz="1700">
                <a:solidFill>
                  <a:srgbClr val="28323C"/>
                </a:solidFill>
                <a:latin typeface="Arial" panose="020B0604020202020204" pitchFamily="34" charset="0"/>
              </a:rPr>
              <a:t>• Need for a simple centralized egress architecture.</a:t>
            </a:r>
          </a:p>
          <a:p>
            <a:r>
              <a:rPr lang="en-US" sz="1700">
                <a:solidFill>
                  <a:srgbClr val="28323C"/>
                </a:solidFill>
                <a:latin typeface="Arial" panose="020B0604020202020204" pitchFamily="34" charset="0"/>
              </a:rPr>
              <a:t>• Need to demonstrate routing and firewall policy together.</a:t>
            </a:r>
          </a:p>
          <a:p>
            <a:r>
              <a:rPr lang="en-US" sz="1700">
                <a:solidFill>
                  <a:srgbClr val="28323C"/>
                </a:solidFill>
                <a:latin typeface="Arial" panose="020B0604020202020204" pitchFamily="34" charset="0"/>
              </a:rPr>
              <a:t>• Need to demonstrate FQDN-based outbound filtering.</a:t>
            </a:r>
          </a:p>
          <a:p>
            <a:r>
              <a:rPr lang="en-US" sz="1700">
                <a:solidFill>
                  <a:srgbClr val="28323C"/>
                </a:solidFill>
                <a:latin typeface="Arial" panose="020B0604020202020204" pitchFamily="34" charset="0"/>
              </a:rPr>
              <a:t>• Need to evaluate configuration challenges and cost considerations.</a:t>
            </a:r>
            <a:endParaRPr lang="en-IN" sz="1700">
              <a:solidFill>
                <a:srgbClr val="28323C"/>
              </a:solidFill>
              <a:latin typeface="Arial" panose="020B06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07F2502-B035-2D28-2401-E3DB6ABA2078}"/>
              </a:ext>
            </a:extLst>
          </p:cNvPr>
          <p:cNvSpPr/>
          <p:nvPr/>
        </p:nvSpPr>
        <p:spPr>
          <a:xfrm>
            <a:off x="889000" y="5143500"/>
            <a:ext cx="6985000" cy="952500"/>
          </a:xfrm>
          <a:prstGeom prst="round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AC7EDC-5FDA-A23A-797B-844861F0E8B2}"/>
              </a:ext>
            </a:extLst>
          </p:cNvPr>
          <p:cNvSpPr txBox="1"/>
          <p:nvPr/>
        </p:nvSpPr>
        <p:spPr>
          <a:xfrm>
            <a:off x="1016000" y="5245100"/>
            <a:ext cx="6731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600" b="1">
                <a:solidFill>
                  <a:srgbClr val="005AA0"/>
                </a:solidFill>
                <a:latin typeface="Arial" panose="020B0604020202020204" pitchFamily="34" charset="0"/>
              </a:rPr>
              <a:t>Project Gap Addressed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8DC644-5AAA-98AB-4F1F-EC875D029D50}"/>
              </a:ext>
            </a:extLst>
          </p:cNvPr>
          <p:cNvSpPr txBox="1"/>
          <p:nvPr/>
        </p:nvSpPr>
        <p:spPr>
          <a:xfrm>
            <a:off x="1016000" y="5676900"/>
            <a:ext cx="6731000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323C46"/>
                </a:solidFill>
                <a:latin typeface="Arial" panose="020B0604020202020204" pitchFamily="34" charset="0"/>
              </a:rPr>
              <a:t>This project demonstrates an end-to-end centralized egress design for multiple teams using Azure Firewall and User Defined Routes.</a:t>
            </a:r>
            <a:endParaRPr lang="en-IN" sz="1300">
              <a:solidFill>
                <a:srgbClr val="323C46"/>
              </a:solidFill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DB6A97-505D-F672-9600-F0E8AE927B3B}"/>
              </a:ext>
            </a:extLst>
          </p:cNvPr>
          <p:cNvSpPr txBox="1"/>
          <p:nvPr/>
        </p:nvSpPr>
        <p:spPr>
          <a:xfrm>
            <a:off x="444500" y="6413500"/>
            <a:ext cx="8255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900">
                <a:solidFill>
                  <a:srgbClr val="646E78"/>
                </a:solidFill>
                <a:latin typeface="Arial" panose="020B0604020202020204" pitchFamily="34" charset="0"/>
              </a:rPr>
              <a:t>Azure Firewall Centralised Egress Filtering</a:t>
            </a:r>
          </a:p>
        </p:txBody>
      </p:sp>
    </p:spTree>
    <p:extLst>
      <p:ext uri="{BB962C8B-B14F-4D97-AF65-F5344CB8AC3E}">
        <p14:creationId xmlns:p14="http://schemas.microsoft.com/office/powerpoint/2010/main" val="25524276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75C0670-702C-AF36-C994-0B63B77FFD1E}"/>
              </a:ext>
            </a:extLst>
          </p:cNvPr>
          <p:cNvSpPr txBox="1"/>
          <p:nvPr/>
        </p:nvSpPr>
        <p:spPr>
          <a:xfrm>
            <a:off x="444500" y="254000"/>
            <a:ext cx="8255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700" b="1">
                <a:solidFill>
                  <a:srgbClr val="0F2846"/>
                </a:solidFill>
                <a:latin typeface="Arial" panose="020B0604020202020204" pitchFamily="34" charset="0"/>
              </a:rPr>
              <a:t>Methodology / Workflow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C8040F5-38A0-B32D-22BA-FBDEDFD853C6}"/>
              </a:ext>
            </a:extLst>
          </p:cNvPr>
          <p:cNvSpPr/>
          <p:nvPr/>
        </p:nvSpPr>
        <p:spPr>
          <a:xfrm>
            <a:off x="444500" y="914400"/>
            <a:ext cx="8255000" cy="38100"/>
          </a:xfrm>
          <a:prstGeom prst="rect">
            <a:avLst/>
          </a:prstGeom>
          <a:solidFill>
            <a:srgbClr val="0078D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8CA3F06-B6D3-23C1-AD57-88315A8380C5}"/>
              </a:ext>
            </a:extLst>
          </p:cNvPr>
          <p:cNvSpPr/>
          <p:nvPr/>
        </p:nvSpPr>
        <p:spPr>
          <a:xfrm>
            <a:off x="381000" y="1524000"/>
            <a:ext cx="533400" cy="533400"/>
          </a:xfrm>
          <a:prstGeom prst="ellipse">
            <a:avLst/>
          </a:prstGeom>
          <a:solidFill>
            <a:srgbClr val="0078D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22B31E-4696-E1F0-8323-72D6EB0B40A7}"/>
              </a:ext>
            </a:extLst>
          </p:cNvPr>
          <p:cNvSpPr txBox="1"/>
          <p:nvPr/>
        </p:nvSpPr>
        <p:spPr>
          <a:xfrm>
            <a:off x="381000" y="1612900"/>
            <a:ext cx="533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1500" b="1">
                <a:solidFill>
                  <a:srgbClr val="FFFFFF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74116E-8DB4-0ED9-D42F-B777D339CE48}"/>
              </a:ext>
            </a:extLst>
          </p:cNvPr>
          <p:cNvSpPr txBox="1"/>
          <p:nvPr/>
        </p:nvSpPr>
        <p:spPr>
          <a:xfrm>
            <a:off x="228600" y="2159000"/>
            <a:ext cx="889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IN" sz="1000" b="1">
                <a:solidFill>
                  <a:srgbClr val="28323C"/>
                </a:solidFill>
                <a:latin typeface="Arial" panose="020B0604020202020204" pitchFamily="34" charset="0"/>
              </a:rPr>
              <a:t>Create VNet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3A26C3B-6173-3C97-64A0-7C9D9EA7C77A}"/>
              </a:ext>
            </a:extLst>
          </p:cNvPr>
          <p:cNvSpPr/>
          <p:nvPr/>
        </p:nvSpPr>
        <p:spPr>
          <a:xfrm>
            <a:off x="1968500" y="1524000"/>
            <a:ext cx="533400" cy="533400"/>
          </a:xfrm>
          <a:prstGeom prst="ellipse">
            <a:avLst/>
          </a:prstGeom>
          <a:solidFill>
            <a:srgbClr val="0078D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C7ADB9-0AFE-BD30-D831-D975F17F7821}"/>
              </a:ext>
            </a:extLst>
          </p:cNvPr>
          <p:cNvSpPr txBox="1"/>
          <p:nvPr/>
        </p:nvSpPr>
        <p:spPr>
          <a:xfrm>
            <a:off x="1968500" y="1612900"/>
            <a:ext cx="533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1500" b="1">
                <a:solidFill>
                  <a:srgbClr val="FFFFFF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F84DFE-67D9-BF3E-76A1-E788C6645BA6}"/>
              </a:ext>
            </a:extLst>
          </p:cNvPr>
          <p:cNvSpPr txBox="1"/>
          <p:nvPr/>
        </p:nvSpPr>
        <p:spPr>
          <a:xfrm>
            <a:off x="1816100" y="2159000"/>
            <a:ext cx="889000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IN" sz="1000" b="1">
                <a:solidFill>
                  <a:srgbClr val="28323C"/>
                </a:solidFill>
                <a:latin typeface="Arial" panose="020B0604020202020204" pitchFamily="34" charset="0"/>
              </a:rPr>
              <a:t>Create Team Subnets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19E8CD5-7B2D-54EE-A50C-B1AB9C487D5A}"/>
              </a:ext>
            </a:extLst>
          </p:cNvPr>
          <p:cNvSpPr/>
          <p:nvPr/>
        </p:nvSpPr>
        <p:spPr>
          <a:xfrm>
            <a:off x="3556000" y="1524000"/>
            <a:ext cx="533400" cy="533400"/>
          </a:xfrm>
          <a:prstGeom prst="ellipse">
            <a:avLst/>
          </a:prstGeom>
          <a:solidFill>
            <a:srgbClr val="0078D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5A6962-E5BB-B7A0-BCB7-86E9DD6CB9F7}"/>
              </a:ext>
            </a:extLst>
          </p:cNvPr>
          <p:cNvSpPr txBox="1"/>
          <p:nvPr/>
        </p:nvSpPr>
        <p:spPr>
          <a:xfrm>
            <a:off x="3556000" y="1612900"/>
            <a:ext cx="533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1500" b="1">
                <a:solidFill>
                  <a:srgbClr val="FFFFFF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A55D463-8DD1-272C-E7AA-C67AE4A50CC2}"/>
              </a:ext>
            </a:extLst>
          </p:cNvPr>
          <p:cNvSpPr txBox="1"/>
          <p:nvPr/>
        </p:nvSpPr>
        <p:spPr>
          <a:xfrm>
            <a:off x="3403600" y="2159000"/>
            <a:ext cx="889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IN" sz="1000" b="1">
                <a:solidFill>
                  <a:srgbClr val="28323C"/>
                </a:solidFill>
                <a:latin typeface="Arial" panose="020B0604020202020204" pitchFamily="34" charset="0"/>
              </a:rPr>
              <a:t>Deploy Firewall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0E46584-12CD-0561-0923-B95927BC05F5}"/>
              </a:ext>
            </a:extLst>
          </p:cNvPr>
          <p:cNvSpPr/>
          <p:nvPr/>
        </p:nvSpPr>
        <p:spPr>
          <a:xfrm>
            <a:off x="5143500" y="1524000"/>
            <a:ext cx="533400" cy="533400"/>
          </a:xfrm>
          <a:prstGeom prst="ellipse">
            <a:avLst/>
          </a:prstGeom>
          <a:solidFill>
            <a:srgbClr val="0078D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D35ED29-87D3-9BF1-3FF9-15BF2BE7AFF6}"/>
              </a:ext>
            </a:extLst>
          </p:cNvPr>
          <p:cNvSpPr txBox="1"/>
          <p:nvPr/>
        </p:nvSpPr>
        <p:spPr>
          <a:xfrm>
            <a:off x="5143500" y="1612900"/>
            <a:ext cx="533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1500" b="1">
                <a:solidFill>
                  <a:srgbClr val="FFFFFF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ACD7CC6-98EB-7B7A-3869-9DF141F1474C}"/>
              </a:ext>
            </a:extLst>
          </p:cNvPr>
          <p:cNvSpPr txBox="1"/>
          <p:nvPr/>
        </p:nvSpPr>
        <p:spPr>
          <a:xfrm>
            <a:off x="4991100" y="2159000"/>
            <a:ext cx="889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IN" sz="1000" b="1">
                <a:solidFill>
                  <a:srgbClr val="28323C"/>
                </a:solidFill>
                <a:latin typeface="Arial" panose="020B0604020202020204" pitchFamily="34" charset="0"/>
              </a:rPr>
              <a:t>Configure UDR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A4B0A77-05AA-1D72-D99A-91617553EAEB}"/>
              </a:ext>
            </a:extLst>
          </p:cNvPr>
          <p:cNvSpPr/>
          <p:nvPr/>
        </p:nvSpPr>
        <p:spPr>
          <a:xfrm>
            <a:off x="6731000" y="1524000"/>
            <a:ext cx="533400" cy="533400"/>
          </a:xfrm>
          <a:prstGeom prst="ellipse">
            <a:avLst/>
          </a:prstGeom>
          <a:solidFill>
            <a:srgbClr val="0078D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60A0EF6-D6C2-BAA8-8920-3B8678EC1423}"/>
              </a:ext>
            </a:extLst>
          </p:cNvPr>
          <p:cNvSpPr txBox="1"/>
          <p:nvPr/>
        </p:nvSpPr>
        <p:spPr>
          <a:xfrm>
            <a:off x="6731000" y="1612900"/>
            <a:ext cx="533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1500" b="1">
                <a:solidFill>
                  <a:srgbClr val="FFFFFF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94E6856-3F10-4BF9-645A-9F5A4414EC5D}"/>
              </a:ext>
            </a:extLst>
          </p:cNvPr>
          <p:cNvSpPr txBox="1"/>
          <p:nvPr/>
        </p:nvSpPr>
        <p:spPr>
          <a:xfrm>
            <a:off x="6578600" y="2159000"/>
            <a:ext cx="889000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IN" sz="1000" b="1">
                <a:solidFill>
                  <a:srgbClr val="28323C"/>
                </a:solidFill>
                <a:latin typeface="Arial" panose="020B0604020202020204" pitchFamily="34" charset="0"/>
              </a:rPr>
              <a:t>Create FQDN Rules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A873DAE-53AB-6F22-374A-63E20DA9B19C}"/>
              </a:ext>
            </a:extLst>
          </p:cNvPr>
          <p:cNvSpPr/>
          <p:nvPr/>
        </p:nvSpPr>
        <p:spPr>
          <a:xfrm>
            <a:off x="1270000" y="3810000"/>
            <a:ext cx="533400" cy="533400"/>
          </a:xfrm>
          <a:prstGeom prst="ellipse">
            <a:avLst/>
          </a:prstGeom>
          <a:solidFill>
            <a:srgbClr val="0078D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68238CA-7A5B-13B1-B124-B7D473837E2C}"/>
              </a:ext>
            </a:extLst>
          </p:cNvPr>
          <p:cNvSpPr txBox="1"/>
          <p:nvPr/>
        </p:nvSpPr>
        <p:spPr>
          <a:xfrm>
            <a:off x="1270000" y="3898900"/>
            <a:ext cx="533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1500" b="1">
                <a:solidFill>
                  <a:srgbClr val="FFFFFF"/>
                </a:solidFill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F79395-3906-3F45-B333-7195DC7E5DDD}"/>
              </a:ext>
            </a:extLst>
          </p:cNvPr>
          <p:cNvSpPr txBox="1"/>
          <p:nvPr/>
        </p:nvSpPr>
        <p:spPr>
          <a:xfrm>
            <a:off x="1117600" y="4445000"/>
            <a:ext cx="889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IN" sz="1000" b="1">
                <a:solidFill>
                  <a:srgbClr val="28323C"/>
                </a:solidFill>
                <a:latin typeface="Arial" panose="020B0604020202020204" pitchFamily="34" charset="0"/>
              </a:rPr>
              <a:t>Generate Traffic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CBD77D6-40F7-3C38-4A32-4508FF07B16A}"/>
              </a:ext>
            </a:extLst>
          </p:cNvPr>
          <p:cNvSpPr/>
          <p:nvPr/>
        </p:nvSpPr>
        <p:spPr>
          <a:xfrm>
            <a:off x="3429000" y="3810000"/>
            <a:ext cx="533400" cy="533400"/>
          </a:xfrm>
          <a:prstGeom prst="ellipse">
            <a:avLst/>
          </a:prstGeom>
          <a:solidFill>
            <a:srgbClr val="0078D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F1914BA-05DA-D940-C830-6CDD0C34ADD7}"/>
              </a:ext>
            </a:extLst>
          </p:cNvPr>
          <p:cNvSpPr txBox="1"/>
          <p:nvPr/>
        </p:nvSpPr>
        <p:spPr>
          <a:xfrm>
            <a:off x="3429000" y="3898900"/>
            <a:ext cx="533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1500" b="1">
                <a:solidFill>
                  <a:srgbClr val="FFFFFF"/>
                </a:solidFill>
                <a:latin typeface="Arial" panose="020B0604020202020204" pitchFamily="34" charset="0"/>
              </a:rPr>
              <a:t>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C6476C6-B8E4-7989-4D64-1A65DC5CB754}"/>
              </a:ext>
            </a:extLst>
          </p:cNvPr>
          <p:cNvSpPr txBox="1"/>
          <p:nvPr/>
        </p:nvSpPr>
        <p:spPr>
          <a:xfrm>
            <a:off x="3276600" y="4445000"/>
            <a:ext cx="889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IN" sz="1000" b="1">
                <a:solidFill>
                  <a:srgbClr val="28323C"/>
                </a:solidFill>
                <a:latin typeface="Arial" panose="020B0604020202020204" pitchFamily="34" charset="0"/>
              </a:rPr>
              <a:t>Allow / Block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43E3800A-8172-4858-71DB-4835FFC2F8B3}"/>
              </a:ext>
            </a:extLst>
          </p:cNvPr>
          <p:cNvSpPr/>
          <p:nvPr/>
        </p:nvSpPr>
        <p:spPr>
          <a:xfrm>
            <a:off x="5588000" y="3810000"/>
            <a:ext cx="533400" cy="533400"/>
          </a:xfrm>
          <a:prstGeom prst="ellipse">
            <a:avLst/>
          </a:prstGeom>
          <a:solidFill>
            <a:srgbClr val="0078D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B67AFA9-104D-6F89-81C3-28D1F42FB7F6}"/>
              </a:ext>
            </a:extLst>
          </p:cNvPr>
          <p:cNvSpPr txBox="1"/>
          <p:nvPr/>
        </p:nvSpPr>
        <p:spPr>
          <a:xfrm>
            <a:off x="5588000" y="3898900"/>
            <a:ext cx="533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1500" b="1">
                <a:solidFill>
                  <a:srgbClr val="FFFFFF"/>
                </a:solidFill>
                <a:latin typeface="Arial" panose="020B0604020202020204" pitchFamily="34" charset="0"/>
              </a:rPr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D30BBC4-A2C5-C5CE-FD66-DC40346B70F1}"/>
              </a:ext>
            </a:extLst>
          </p:cNvPr>
          <p:cNvSpPr txBox="1"/>
          <p:nvPr/>
        </p:nvSpPr>
        <p:spPr>
          <a:xfrm>
            <a:off x="5435600" y="4445000"/>
            <a:ext cx="889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IN" sz="1000" b="1">
                <a:solidFill>
                  <a:srgbClr val="28323C"/>
                </a:solidFill>
                <a:latin typeface="Arial" panose="020B0604020202020204" pitchFamily="34" charset="0"/>
              </a:rPr>
              <a:t>Check Logs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94D98BC5-96F5-FA46-374F-34328A7557CB}"/>
              </a:ext>
            </a:extLst>
          </p:cNvPr>
          <p:cNvSpPr/>
          <p:nvPr/>
        </p:nvSpPr>
        <p:spPr>
          <a:xfrm>
            <a:off x="1016000" y="5143500"/>
            <a:ext cx="6858000" cy="889000"/>
          </a:xfrm>
          <a:prstGeom prst="round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57803E3-0AD6-B810-3B42-5A02A4D1085F}"/>
              </a:ext>
            </a:extLst>
          </p:cNvPr>
          <p:cNvSpPr txBox="1"/>
          <p:nvPr/>
        </p:nvSpPr>
        <p:spPr>
          <a:xfrm>
            <a:off x="1143000" y="5245100"/>
            <a:ext cx="6604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600" b="1">
                <a:solidFill>
                  <a:srgbClr val="005AA0"/>
                </a:solidFill>
                <a:latin typeface="Arial" panose="020B0604020202020204" pitchFamily="34" charset="0"/>
              </a:rPr>
              <a:t>Technologies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E493BE1-47EA-8060-28FF-56D1BBA2CBF2}"/>
              </a:ext>
            </a:extLst>
          </p:cNvPr>
          <p:cNvSpPr txBox="1"/>
          <p:nvPr/>
        </p:nvSpPr>
        <p:spPr>
          <a:xfrm>
            <a:off x="1143000" y="5676900"/>
            <a:ext cx="6604000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300">
                <a:solidFill>
                  <a:srgbClr val="323C46"/>
                </a:solidFill>
                <a:latin typeface="Arial" panose="020B0604020202020204" pitchFamily="34" charset="0"/>
              </a:rPr>
              <a:t>Microsoft Azure | Azure Virtual Network | Azure Firewall | Route Tables / UDR | Firewall Policy | FQDN Rules | Azure Monitoring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2F5F844-674D-E5B7-E24A-255AEA32DFDB}"/>
              </a:ext>
            </a:extLst>
          </p:cNvPr>
          <p:cNvSpPr txBox="1"/>
          <p:nvPr/>
        </p:nvSpPr>
        <p:spPr>
          <a:xfrm>
            <a:off x="444500" y="6413500"/>
            <a:ext cx="8255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900">
                <a:solidFill>
                  <a:srgbClr val="646E78"/>
                </a:solidFill>
                <a:latin typeface="Arial" panose="020B0604020202020204" pitchFamily="34" charset="0"/>
              </a:rPr>
              <a:t>Azure Firewall Centralised Egress Filtering</a:t>
            </a:r>
          </a:p>
        </p:txBody>
      </p:sp>
    </p:spTree>
    <p:extLst>
      <p:ext uri="{BB962C8B-B14F-4D97-AF65-F5344CB8AC3E}">
        <p14:creationId xmlns:p14="http://schemas.microsoft.com/office/powerpoint/2010/main" val="30837426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B11CF54-A966-8C1F-FA90-3A64D1E9F555}"/>
              </a:ext>
            </a:extLst>
          </p:cNvPr>
          <p:cNvSpPr txBox="1"/>
          <p:nvPr/>
        </p:nvSpPr>
        <p:spPr>
          <a:xfrm>
            <a:off x="444500" y="254000"/>
            <a:ext cx="8255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700" b="1">
                <a:solidFill>
                  <a:srgbClr val="0F2846"/>
                </a:solidFill>
                <a:latin typeface="Arial" panose="020B0604020202020204" pitchFamily="34" charset="0"/>
              </a:rPr>
              <a:t>System Architecture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5B93C1B-68DD-A832-811B-BAB962AE3DF4}"/>
              </a:ext>
            </a:extLst>
          </p:cNvPr>
          <p:cNvSpPr/>
          <p:nvPr/>
        </p:nvSpPr>
        <p:spPr>
          <a:xfrm>
            <a:off x="444500" y="914400"/>
            <a:ext cx="8255000" cy="38100"/>
          </a:xfrm>
          <a:prstGeom prst="rect">
            <a:avLst/>
          </a:prstGeom>
          <a:solidFill>
            <a:srgbClr val="0078D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1EC73FA-C46E-2625-8AAB-F16F13090E29}"/>
              </a:ext>
            </a:extLst>
          </p:cNvPr>
          <p:cNvSpPr/>
          <p:nvPr/>
        </p:nvSpPr>
        <p:spPr>
          <a:xfrm>
            <a:off x="444500" y="1397000"/>
            <a:ext cx="1841500" cy="889000"/>
          </a:xfrm>
          <a:prstGeom prst="roundRect">
            <a:avLst/>
          </a:prstGeom>
          <a:solidFill>
            <a:srgbClr val="E6F2FC"/>
          </a:solidFill>
          <a:ln>
            <a:solidFill>
              <a:srgbClr val="0078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>
                <a:solidFill>
                  <a:srgbClr val="192D41"/>
                </a:solidFill>
                <a:latin typeface="Arial" panose="020B0604020202020204" pitchFamily="34" charset="0"/>
              </a:rPr>
              <a:t>TEAM T021</a:t>
            </a:r>
          </a:p>
          <a:p>
            <a:pPr algn="ctr"/>
            <a:r>
              <a:rPr lang="en-IN" sz="1200">
                <a:solidFill>
                  <a:srgbClr val="192D41"/>
                </a:solidFill>
                <a:latin typeface="Arial" panose="020B0604020202020204" pitchFamily="34" charset="0"/>
              </a:rPr>
              <a:t>Student Workloads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9F8A0F4-37CC-93BC-3F2A-78C092FD3175}"/>
              </a:ext>
            </a:extLst>
          </p:cNvPr>
          <p:cNvSpPr/>
          <p:nvPr/>
        </p:nvSpPr>
        <p:spPr>
          <a:xfrm>
            <a:off x="444500" y="2730500"/>
            <a:ext cx="1841500" cy="889000"/>
          </a:xfrm>
          <a:prstGeom prst="roundRect">
            <a:avLst/>
          </a:prstGeom>
          <a:solidFill>
            <a:srgbClr val="E6F2FC"/>
          </a:solidFill>
          <a:ln>
            <a:solidFill>
              <a:srgbClr val="0078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>
                <a:solidFill>
                  <a:srgbClr val="192D41"/>
                </a:solidFill>
                <a:latin typeface="Arial" panose="020B0604020202020204" pitchFamily="34" charset="0"/>
              </a:rPr>
              <a:t>TEAM T123</a:t>
            </a:r>
          </a:p>
          <a:p>
            <a:pPr algn="ctr"/>
            <a:r>
              <a:rPr lang="en-IN" sz="1200">
                <a:solidFill>
                  <a:srgbClr val="192D41"/>
                </a:solidFill>
                <a:latin typeface="Arial" panose="020B0604020202020204" pitchFamily="34" charset="0"/>
              </a:rPr>
              <a:t>Student Workloads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AE30C10-45DD-031C-360C-FC5A879E5DEB}"/>
              </a:ext>
            </a:extLst>
          </p:cNvPr>
          <p:cNvSpPr/>
          <p:nvPr/>
        </p:nvSpPr>
        <p:spPr>
          <a:xfrm>
            <a:off x="444500" y="4064000"/>
            <a:ext cx="1841500" cy="889000"/>
          </a:xfrm>
          <a:prstGeom prst="roundRect">
            <a:avLst/>
          </a:prstGeom>
          <a:solidFill>
            <a:srgbClr val="E6F2FC"/>
          </a:solidFill>
          <a:ln>
            <a:solidFill>
              <a:srgbClr val="0078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>
                <a:solidFill>
                  <a:srgbClr val="192D41"/>
                </a:solidFill>
                <a:latin typeface="Arial" panose="020B0604020202020204" pitchFamily="34" charset="0"/>
              </a:rPr>
              <a:t>TEAM T225</a:t>
            </a:r>
          </a:p>
          <a:p>
            <a:pPr algn="ctr"/>
            <a:r>
              <a:rPr lang="en-IN" sz="1200">
                <a:solidFill>
                  <a:srgbClr val="192D41"/>
                </a:solidFill>
                <a:latin typeface="Arial" panose="020B0604020202020204" pitchFamily="34" charset="0"/>
              </a:rPr>
              <a:t>Student Workloads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3A50A8F-17C3-3DB0-4148-349C2967825A}"/>
              </a:ext>
            </a:extLst>
          </p:cNvPr>
          <p:cNvSpPr/>
          <p:nvPr/>
        </p:nvSpPr>
        <p:spPr>
          <a:xfrm>
            <a:off x="2984500" y="2794000"/>
            <a:ext cx="2159000" cy="952500"/>
          </a:xfrm>
          <a:prstGeom prst="roundRect">
            <a:avLst/>
          </a:prstGeom>
          <a:solidFill>
            <a:srgbClr val="E6F2FC"/>
          </a:solidFill>
          <a:ln>
            <a:solidFill>
              <a:srgbClr val="0078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rgbClr val="192D41"/>
                </a:solidFill>
                <a:latin typeface="Arial" panose="020B0604020202020204" pitchFamily="34" charset="0"/>
              </a:rPr>
              <a:t>USER DEFINED ROUTE</a:t>
            </a:r>
          </a:p>
          <a:p>
            <a:pPr algn="ctr"/>
            <a:r>
              <a:rPr lang="en-US" sz="1200">
                <a:solidFill>
                  <a:srgbClr val="192D41"/>
                </a:solidFill>
                <a:latin typeface="Arial" panose="020B0604020202020204" pitchFamily="34" charset="0"/>
              </a:rPr>
              <a:t>0.0.0.0/0 to Firewall</a:t>
            </a:r>
            <a:endParaRPr lang="en-IN" sz="1200">
              <a:solidFill>
                <a:srgbClr val="192D41"/>
              </a:solidFill>
              <a:latin typeface="Arial" panose="020B060402020202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B150B70-5EC6-FD89-671E-41462C6ED302}"/>
              </a:ext>
            </a:extLst>
          </p:cNvPr>
          <p:cNvSpPr/>
          <p:nvPr/>
        </p:nvSpPr>
        <p:spPr>
          <a:xfrm>
            <a:off x="5778500" y="2794000"/>
            <a:ext cx="2159000" cy="952500"/>
          </a:xfrm>
          <a:prstGeom prst="roundRect">
            <a:avLst/>
          </a:prstGeom>
          <a:solidFill>
            <a:srgbClr val="E6F2FC"/>
          </a:solidFill>
          <a:ln>
            <a:solidFill>
              <a:srgbClr val="0078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>
                <a:solidFill>
                  <a:srgbClr val="192D41"/>
                </a:solidFill>
                <a:latin typeface="Arial" panose="020B0604020202020204" pitchFamily="34" charset="0"/>
              </a:rPr>
              <a:t>AZURE FIREWALL</a:t>
            </a:r>
          </a:p>
          <a:p>
            <a:pPr algn="ctr"/>
            <a:r>
              <a:rPr lang="en-IN" sz="1200">
                <a:solidFill>
                  <a:srgbClr val="192D41"/>
                </a:solidFill>
                <a:latin typeface="Arial" panose="020B0604020202020204" pitchFamily="34" charset="0"/>
              </a:rPr>
              <a:t>Centralized Egress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11FE86C-12ED-068E-6C25-5104AF87F3C7}"/>
              </a:ext>
            </a:extLst>
          </p:cNvPr>
          <p:cNvSpPr/>
          <p:nvPr/>
        </p:nvSpPr>
        <p:spPr>
          <a:xfrm>
            <a:off x="5778500" y="4445000"/>
            <a:ext cx="2159000" cy="889000"/>
          </a:xfrm>
          <a:prstGeom prst="roundRect">
            <a:avLst/>
          </a:prstGeom>
          <a:solidFill>
            <a:srgbClr val="E6F2FC"/>
          </a:solidFill>
          <a:ln>
            <a:solidFill>
              <a:srgbClr val="0078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>
                <a:solidFill>
                  <a:srgbClr val="192D41"/>
                </a:solidFill>
                <a:latin typeface="Arial" panose="020B0604020202020204" pitchFamily="34" charset="0"/>
              </a:rPr>
              <a:t>INTERNET</a:t>
            </a:r>
          </a:p>
          <a:p>
            <a:pPr algn="ctr"/>
            <a:r>
              <a:rPr lang="en-IN" sz="1200">
                <a:solidFill>
                  <a:srgbClr val="192D41"/>
                </a:solidFill>
                <a:latin typeface="Arial" panose="020B0604020202020204" pitchFamily="34" charset="0"/>
              </a:rPr>
              <a:t>Approved FQDNs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D577299-B4C3-9367-D7DF-A3694E4DEF30}"/>
              </a:ext>
            </a:extLst>
          </p:cNvPr>
          <p:cNvCxnSpPr/>
          <p:nvPr/>
        </p:nvCxnSpPr>
        <p:spPr>
          <a:xfrm>
            <a:off x="2286000" y="1841500"/>
            <a:ext cx="698500" cy="1270000"/>
          </a:xfrm>
          <a:prstGeom prst="line">
            <a:avLst/>
          </a:prstGeom>
          <a:ln w="25400">
            <a:solidFill>
              <a:srgbClr val="0064B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C2A881C-6B61-6D17-5941-0E0C90E00748}"/>
              </a:ext>
            </a:extLst>
          </p:cNvPr>
          <p:cNvCxnSpPr/>
          <p:nvPr/>
        </p:nvCxnSpPr>
        <p:spPr>
          <a:xfrm>
            <a:off x="2286000" y="3175000"/>
            <a:ext cx="698500" cy="0"/>
          </a:xfrm>
          <a:prstGeom prst="line">
            <a:avLst/>
          </a:prstGeom>
          <a:ln w="25400">
            <a:solidFill>
              <a:srgbClr val="0064B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CC6CF48-7DF9-602C-B5AC-7FB48FA15088}"/>
              </a:ext>
            </a:extLst>
          </p:cNvPr>
          <p:cNvCxnSpPr/>
          <p:nvPr/>
        </p:nvCxnSpPr>
        <p:spPr>
          <a:xfrm flipV="1">
            <a:off x="2286000" y="3365500"/>
            <a:ext cx="698500" cy="1143000"/>
          </a:xfrm>
          <a:prstGeom prst="line">
            <a:avLst/>
          </a:prstGeom>
          <a:ln w="25400">
            <a:solidFill>
              <a:srgbClr val="0064B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B1A737A-AA42-77CF-B109-50B2E05F0669}"/>
              </a:ext>
            </a:extLst>
          </p:cNvPr>
          <p:cNvCxnSpPr/>
          <p:nvPr/>
        </p:nvCxnSpPr>
        <p:spPr>
          <a:xfrm>
            <a:off x="5143500" y="3263900"/>
            <a:ext cx="635000" cy="0"/>
          </a:xfrm>
          <a:prstGeom prst="line">
            <a:avLst/>
          </a:prstGeom>
          <a:ln w="25400">
            <a:solidFill>
              <a:srgbClr val="0064B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D87EE72-ABD0-43EF-0105-DC3A7184DF7E}"/>
              </a:ext>
            </a:extLst>
          </p:cNvPr>
          <p:cNvCxnSpPr/>
          <p:nvPr/>
        </p:nvCxnSpPr>
        <p:spPr>
          <a:xfrm>
            <a:off x="6858000" y="3746500"/>
            <a:ext cx="0" cy="698500"/>
          </a:xfrm>
          <a:prstGeom prst="line">
            <a:avLst/>
          </a:prstGeom>
          <a:ln w="25400">
            <a:solidFill>
              <a:srgbClr val="0064B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FCDEC084-2CDD-89A4-03A9-4039B022C5DB}"/>
              </a:ext>
            </a:extLst>
          </p:cNvPr>
          <p:cNvSpPr txBox="1"/>
          <p:nvPr/>
        </p:nvSpPr>
        <p:spPr>
          <a:xfrm>
            <a:off x="444500" y="6413500"/>
            <a:ext cx="8255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900">
                <a:solidFill>
                  <a:srgbClr val="646E78"/>
                </a:solidFill>
                <a:latin typeface="Arial" panose="020B0604020202020204" pitchFamily="34" charset="0"/>
              </a:rPr>
              <a:t>Azure Firewall Centralised Egress Filtering</a:t>
            </a:r>
          </a:p>
        </p:txBody>
      </p:sp>
    </p:spTree>
    <p:extLst>
      <p:ext uri="{BB962C8B-B14F-4D97-AF65-F5344CB8AC3E}">
        <p14:creationId xmlns:p14="http://schemas.microsoft.com/office/powerpoint/2010/main" val="1346032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1A6306C-296C-06E7-80DE-B3E1BD63CD5C}"/>
              </a:ext>
            </a:extLst>
          </p:cNvPr>
          <p:cNvSpPr txBox="1"/>
          <p:nvPr/>
        </p:nvSpPr>
        <p:spPr>
          <a:xfrm>
            <a:off x="444500" y="254000"/>
            <a:ext cx="8255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700" b="1">
                <a:solidFill>
                  <a:srgbClr val="0F2846"/>
                </a:solidFill>
                <a:latin typeface="Arial" panose="020B0604020202020204" pitchFamily="34" charset="0"/>
              </a:rPr>
              <a:t>Module Description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AB0AFFA-6CA5-4882-7313-79779186C063}"/>
              </a:ext>
            </a:extLst>
          </p:cNvPr>
          <p:cNvSpPr/>
          <p:nvPr/>
        </p:nvSpPr>
        <p:spPr>
          <a:xfrm>
            <a:off x="444500" y="914400"/>
            <a:ext cx="8255000" cy="38100"/>
          </a:xfrm>
          <a:prstGeom prst="rect">
            <a:avLst/>
          </a:prstGeom>
          <a:solidFill>
            <a:srgbClr val="0078D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2BF2DF4-E327-C00A-515B-A3477D78BE85}"/>
              </a:ext>
            </a:extLst>
          </p:cNvPr>
          <p:cNvSpPr/>
          <p:nvPr/>
        </p:nvSpPr>
        <p:spPr>
          <a:xfrm>
            <a:off x="381000" y="1333500"/>
            <a:ext cx="2603500" cy="1651000"/>
          </a:xfrm>
          <a:prstGeom prst="round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B4A49C-FBCB-B0A0-35E5-F015E4BF7E72}"/>
              </a:ext>
            </a:extLst>
          </p:cNvPr>
          <p:cNvSpPr txBox="1"/>
          <p:nvPr/>
        </p:nvSpPr>
        <p:spPr>
          <a:xfrm>
            <a:off x="508000" y="1435100"/>
            <a:ext cx="23495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600" b="1">
                <a:solidFill>
                  <a:srgbClr val="005AA0"/>
                </a:solidFill>
                <a:latin typeface="Arial" panose="020B0604020202020204" pitchFamily="34" charset="0"/>
              </a:rPr>
              <a:t>1. Network Module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DB268D-4D01-C91C-9A12-775DB8E13122}"/>
              </a:ext>
            </a:extLst>
          </p:cNvPr>
          <p:cNvSpPr txBox="1"/>
          <p:nvPr/>
        </p:nvSpPr>
        <p:spPr>
          <a:xfrm>
            <a:off x="508000" y="1866900"/>
            <a:ext cx="2349500" cy="6924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323C46"/>
                </a:solidFill>
                <a:latin typeface="Arial" panose="020B0604020202020204" pitchFamily="34" charset="0"/>
              </a:rPr>
              <a:t>Creates VNet, subnets and network connectivity for participating teams.</a:t>
            </a:r>
            <a:endParaRPr lang="en-IN" sz="1300">
              <a:solidFill>
                <a:srgbClr val="323C46"/>
              </a:solidFill>
              <a:latin typeface="Arial" panose="020B06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4C07E70-BB9B-4EEB-CD78-3BE2EF06662E}"/>
              </a:ext>
            </a:extLst>
          </p:cNvPr>
          <p:cNvSpPr/>
          <p:nvPr/>
        </p:nvSpPr>
        <p:spPr>
          <a:xfrm>
            <a:off x="3175000" y="1333500"/>
            <a:ext cx="2603500" cy="1651000"/>
          </a:xfrm>
          <a:prstGeom prst="round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EDAA77-A673-2215-B1DE-A270084587C6}"/>
              </a:ext>
            </a:extLst>
          </p:cNvPr>
          <p:cNvSpPr txBox="1"/>
          <p:nvPr/>
        </p:nvSpPr>
        <p:spPr>
          <a:xfrm>
            <a:off x="3302000" y="1435100"/>
            <a:ext cx="23495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600" b="1">
                <a:solidFill>
                  <a:srgbClr val="005AA0"/>
                </a:solidFill>
                <a:latin typeface="Arial" panose="020B0604020202020204" pitchFamily="34" charset="0"/>
              </a:rPr>
              <a:t>2. Routing Module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9E09A9-0D34-4AF2-F3AC-B65326A59F4A}"/>
              </a:ext>
            </a:extLst>
          </p:cNvPr>
          <p:cNvSpPr txBox="1"/>
          <p:nvPr/>
        </p:nvSpPr>
        <p:spPr>
          <a:xfrm>
            <a:off x="3302000" y="1866900"/>
            <a:ext cx="2349500" cy="6924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323C46"/>
                </a:solidFill>
                <a:latin typeface="Arial" panose="020B0604020202020204" pitchFamily="34" charset="0"/>
              </a:rPr>
              <a:t>Configures route tables and UDRs to direct outbound traffic to the firewall.</a:t>
            </a:r>
            <a:endParaRPr lang="en-IN" sz="1300">
              <a:solidFill>
                <a:srgbClr val="323C46"/>
              </a:solidFill>
              <a:latin typeface="Arial" panose="020B0604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0D9EBB7-B946-CE3C-37F1-F13DAD4658ED}"/>
              </a:ext>
            </a:extLst>
          </p:cNvPr>
          <p:cNvSpPr/>
          <p:nvPr/>
        </p:nvSpPr>
        <p:spPr>
          <a:xfrm>
            <a:off x="5969000" y="1333500"/>
            <a:ext cx="2603500" cy="1651000"/>
          </a:xfrm>
          <a:prstGeom prst="round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4C3AC69-C8F0-DB45-FDF2-60642BFE3821}"/>
              </a:ext>
            </a:extLst>
          </p:cNvPr>
          <p:cNvSpPr txBox="1"/>
          <p:nvPr/>
        </p:nvSpPr>
        <p:spPr>
          <a:xfrm>
            <a:off x="6096000" y="1435100"/>
            <a:ext cx="23495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600" b="1">
                <a:solidFill>
                  <a:srgbClr val="005AA0"/>
                </a:solidFill>
                <a:latin typeface="Arial" panose="020B0604020202020204" pitchFamily="34" charset="0"/>
              </a:rPr>
              <a:t>3. Firewall Module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3BB77EA-44A7-BA03-CCED-4615D7A8D9F2}"/>
              </a:ext>
            </a:extLst>
          </p:cNvPr>
          <p:cNvSpPr txBox="1"/>
          <p:nvPr/>
        </p:nvSpPr>
        <p:spPr>
          <a:xfrm>
            <a:off x="6096000" y="1866900"/>
            <a:ext cx="2349500" cy="6924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323C46"/>
                </a:solidFill>
                <a:latin typeface="Arial" panose="020B0604020202020204" pitchFamily="34" charset="0"/>
              </a:rPr>
              <a:t>Deploys Azure Firewall as the centralized inspection point.</a:t>
            </a:r>
            <a:endParaRPr lang="en-IN" sz="1300">
              <a:solidFill>
                <a:srgbClr val="323C46"/>
              </a:solidFill>
              <a:latin typeface="Arial" panose="020B060402020202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C69B28D-0AD1-C3F6-72C2-4ADFBC0A3C8E}"/>
              </a:ext>
            </a:extLst>
          </p:cNvPr>
          <p:cNvSpPr/>
          <p:nvPr/>
        </p:nvSpPr>
        <p:spPr>
          <a:xfrm>
            <a:off x="1778000" y="3556000"/>
            <a:ext cx="2603500" cy="1651000"/>
          </a:xfrm>
          <a:prstGeom prst="round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051B887-7971-0531-EB72-5A70919C94DA}"/>
              </a:ext>
            </a:extLst>
          </p:cNvPr>
          <p:cNvSpPr txBox="1"/>
          <p:nvPr/>
        </p:nvSpPr>
        <p:spPr>
          <a:xfrm>
            <a:off x="1905000" y="3657600"/>
            <a:ext cx="23495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600" b="1">
                <a:solidFill>
                  <a:srgbClr val="005AA0"/>
                </a:solidFill>
                <a:latin typeface="Arial" panose="020B0604020202020204" pitchFamily="34" charset="0"/>
              </a:rPr>
              <a:t>4. Policy Module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5C2962D-6CC8-4231-6578-5DA2C43D4CF8}"/>
              </a:ext>
            </a:extLst>
          </p:cNvPr>
          <p:cNvSpPr txBox="1"/>
          <p:nvPr/>
        </p:nvSpPr>
        <p:spPr>
          <a:xfrm>
            <a:off x="1905000" y="4089400"/>
            <a:ext cx="2349500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323C46"/>
                </a:solidFill>
                <a:latin typeface="Arial" panose="020B0604020202020204" pitchFamily="34" charset="0"/>
              </a:rPr>
              <a:t>Defines application rules and FQDN allowlists.</a:t>
            </a:r>
            <a:endParaRPr lang="en-IN" sz="1300">
              <a:solidFill>
                <a:srgbClr val="323C46"/>
              </a:solidFill>
              <a:latin typeface="Arial" panose="020B0604020202020204" pitchFamily="34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BC85560-64C5-997D-BD2D-7A4A6D6E5D00}"/>
              </a:ext>
            </a:extLst>
          </p:cNvPr>
          <p:cNvSpPr/>
          <p:nvPr/>
        </p:nvSpPr>
        <p:spPr>
          <a:xfrm>
            <a:off x="4572000" y="3556000"/>
            <a:ext cx="2603500" cy="1651000"/>
          </a:xfrm>
          <a:prstGeom prst="round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A906271-23C8-88C6-EB26-8BB824E54D93}"/>
              </a:ext>
            </a:extLst>
          </p:cNvPr>
          <p:cNvSpPr txBox="1"/>
          <p:nvPr/>
        </p:nvSpPr>
        <p:spPr>
          <a:xfrm>
            <a:off x="4699000" y="3657600"/>
            <a:ext cx="23495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600" b="1">
                <a:solidFill>
                  <a:srgbClr val="005AA0"/>
                </a:solidFill>
                <a:latin typeface="Arial" panose="020B0604020202020204" pitchFamily="34" charset="0"/>
              </a:rPr>
              <a:t>5. Monitoring Module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7B7E5A1-6512-E75B-35A8-9C277402CF2A}"/>
              </a:ext>
            </a:extLst>
          </p:cNvPr>
          <p:cNvSpPr txBox="1"/>
          <p:nvPr/>
        </p:nvSpPr>
        <p:spPr>
          <a:xfrm>
            <a:off x="4699000" y="4089400"/>
            <a:ext cx="2349500" cy="6924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323C46"/>
                </a:solidFill>
                <a:latin typeface="Arial" panose="020B0604020202020204" pitchFamily="34" charset="0"/>
              </a:rPr>
              <a:t>Uses firewall logs and monitoring information to validate traffic decisions.</a:t>
            </a:r>
            <a:endParaRPr lang="en-IN" sz="1300">
              <a:solidFill>
                <a:srgbClr val="323C46"/>
              </a:solidFill>
              <a:latin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D907B68-1FB1-1C69-0E71-7F0495C1E9A4}"/>
              </a:ext>
            </a:extLst>
          </p:cNvPr>
          <p:cNvSpPr txBox="1"/>
          <p:nvPr/>
        </p:nvSpPr>
        <p:spPr>
          <a:xfrm>
            <a:off x="444500" y="6413500"/>
            <a:ext cx="8255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900">
                <a:solidFill>
                  <a:srgbClr val="646E78"/>
                </a:solidFill>
                <a:latin typeface="Arial" panose="020B0604020202020204" pitchFamily="34" charset="0"/>
              </a:rPr>
              <a:t>Azure Firewall Centralised Egress Filtering</a:t>
            </a:r>
          </a:p>
        </p:txBody>
      </p:sp>
    </p:spTree>
    <p:extLst>
      <p:ext uri="{BB962C8B-B14F-4D97-AF65-F5344CB8AC3E}">
        <p14:creationId xmlns:p14="http://schemas.microsoft.com/office/powerpoint/2010/main" val="41394340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A7CF06E-3559-1BBB-0FBA-C9BDD87A1EDC}"/>
              </a:ext>
            </a:extLst>
          </p:cNvPr>
          <p:cNvSpPr txBox="1"/>
          <p:nvPr/>
        </p:nvSpPr>
        <p:spPr>
          <a:xfrm>
            <a:off x="444500" y="254000"/>
            <a:ext cx="8255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700" b="1">
                <a:solidFill>
                  <a:srgbClr val="0F2846"/>
                </a:solidFill>
                <a:latin typeface="Arial" panose="020B0604020202020204" pitchFamily="34" charset="0"/>
              </a:rPr>
              <a:t>Use Case Diagram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8EF6D51-F7E5-79AC-9E3F-6836ED04BC08}"/>
              </a:ext>
            </a:extLst>
          </p:cNvPr>
          <p:cNvSpPr/>
          <p:nvPr/>
        </p:nvSpPr>
        <p:spPr>
          <a:xfrm>
            <a:off x="444500" y="914400"/>
            <a:ext cx="8255000" cy="38100"/>
          </a:xfrm>
          <a:prstGeom prst="rect">
            <a:avLst/>
          </a:prstGeom>
          <a:solidFill>
            <a:srgbClr val="0078D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5E02B4F-0F94-75F0-BD4D-61A8AF32ABBC}"/>
              </a:ext>
            </a:extLst>
          </p:cNvPr>
          <p:cNvSpPr/>
          <p:nvPr/>
        </p:nvSpPr>
        <p:spPr>
          <a:xfrm>
            <a:off x="571500" y="2159000"/>
            <a:ext cx="1905000" cy="889000"/>
          </a:xfrm>
          <a:prstGeom prst="roundRect">
            <a:avLst/>
          </a:prstGeom>
          <a:solidFill>
            <a:srgbClr val="E6F2FC"/>
          </a:solidFill>
          <a:ln>
            <a:solidFill>
              <a:srgbClr val="0078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>
                <a:solidFill>
                  <a:srgbClr val="192D41"/>
                </a:solidFill>
                <a:latin typeface="Arial" panose="020B0604020202020204" pitchFamily="34" charset="0"/>
              </a:rPr>
              <a:t>SECURITY ADMIN</a:t>
            </a:r>
          </a:p>
          <a:p>
            <a:pPr algn="ctr"/>
            <a:r>
              <a:rPr lang="en-IN" sz="1200">
                <a:solidFill>
                  <a:srgbClr val="192D41"/>
                </a:solidFill>
                <a:latin typeface="Arial" panose="020B0604020202020204" pitchFamily="34" charset="0"/>
              </a:rPr>
              <a:t>Manages policies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B4FEC03-0C2C-E978-64C1-1454EF1A2D71}"/>
              </a:ext>
            </a:extLst>
          </p:cNvPr>
          <p:cNvSpPr/>
          <p:nvPr/>
        </p:nvSpPr>
        <p:spPr>
          <a:xfrm>
            <a:off x="571500" y="4000500"/>
            <a:ext cx="1905000" cy="889000"/>
          </a:xfrm>
          <a:prstGeom prst="roundRect">
            <a:avLst/>
          </a:prstGeom>
          <a:solidFill>
            <a:srgbClr val="E6F2FC"/>
          </a:solidFill>
          <a:ln>
            <a:solidFill>
              <a:srgbClr val="0078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>
                <a:solidFill>
                  <a:srgbClr val="192D41"/>
                </a:solidFill>
                <a:latin typeface="Arial" panose="020B0604020202020204" pitchFamily="34" charset="0"/>
              </a:rPr>
              <a:t>TEAM WORKLOAD</a:t>
            </a:r>
          </a:p>
          <a:p>
            <a:pPr algn="ctr"/>
            <a:r>
              <a:rPr lang="en-IN" sz="1200">
                <a:solidFill>
                  <a:srgbClr val="192D41"/>
                </a:solidFill>
                <a:latin typeface="Arial" panose="020B0604020202020204" pitchFamily="34" charset="0"/>
              </a:rPr>
              <a:t>Generates traffic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B921600-5BC5-80BB-D84E-E2D82DF1154E}"/>
              </a:ext>
            </a:extLst>
          </p:cNvPr>
          <p:cNvSpPr/>
          <p:nvPr/>
        </p:nvSpPr>
        <p:spPr>
          <a:xfrm>
            <a:off x="5905500" y="3048000"/>
            <a:ext cx="2159000" cy="952500"/>
          </a:xfrm>
          <a:prstGeom prst="roundRect">
            <a:avLst/>
          </a:prstGeom>
          <a:solidFill>
            <a:srgbClr val="E6F2FC"/>
          </a:solidFill>
          <a:ln>
            <a:solidFill>
              <a:srgbClr val="0078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>
                <a:solidFill>
                  <a:srgbClr val="192D41"/>
                </a:solidFill>
                <a:latin typeface="Arial" panose="020B0604020202020204" pitchFamily="34" charset="0"/>
              </a:rPr>
              <a:t>AZURE FIREWALL</a:t>
            </a:r>
          </a:p>
          <a:p>
            <a:pPr algn="ctr"/>
            <a:r>
              <a:rPr lang="en-IN" sz="1200">
                <a:solidFill>
                  <a:srgbClr val="192D41"/>
                </a:solidFill>
                <a:latin typeface="Arial" panose="020B0604020202020204" pitchFamily="34" charset="0"/>
              </a:rPr>
              <a:t>Evaluates traffic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21A49BF-8282-0C32-FCE8-F86D5ED9608D}"/>
              </a:ext>
            </a:extLst>
          </p:cNvPr>
          <p:cNvSpPr/>
          <p:nvPr/>
        </p:nvSpPr>
        <p:spPr>
          <a:xfrm>
            <a:off x="3175000" y="1333500"/>
            <a:ext cx="2159000" cy="4000500"/>
          </a:xfrm>
          <a:prstGeom prst="round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D2E8B1-AB15-6EE6-BDA6-F9C73BEE0BD7}"/>
              </a:ext>
            </a:extLst>
          </p:cNvPr>
          <p:cNvSpPr txBox="1"/>
          <p:nvPr/>
        </p:nvSpPr>
        <p:spPr>
          <a:xfrm>
            <a:off x="3302000" y="1435100"/>
            <a:ext cx="190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600" b="1">
                <a:solidFill>
                  <a:srgbClr val="005AA0"/>
                </a:solidFill>
                <a:latin typeface="Arial" panose="020B0604020202020204" pitchFamily="34" charset="0"/>
              </a:rPr>
              <a:t>Use Cases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17BE69-DB44-B0B0-D82E-C2A9616A1A75}"/>
              </a:ext>
            </a:extLst>
          </p:cNvPr>
          <p:cNvSpPr txBox="1"/>
          <p:nvPr/>
        </p:nvSpPr>
        <p:spPr>
          <a:xfrm>
            <a:off x="3302000" y="1866900"/>
            <a:ext cx="1905000" cy="209288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323C46"/>
                </a:solidFill>
                <a:latin typeface="Arial" panose="020B0604020202020204" pitchFamily="34" charset="0"/>
              </a:rPr>
              <a:t>Configure firewall policy</a:t>
            </a:r>
          </a:p>
          <a:p>
            <a:r>
              <a:rPr lang="en-US" sz="1300">
                <a:solidFill>
                  <a:srgbClr val="323C46"/>
                </a:solidFill>
                <a:latin typeface="Arial" panose="020B0604020202020204" pitchFamily="34" charset="0"/>
              </a:rPr>
              <a:t>Configure FQDN allowlist</a:t>
            </a:r>
          </a:p>
          <a:p>
            <a:r>
              <a:rPr lang="en-US" sz="1300">
                <a:solidFill>
                  <a:srgbClr val="323C46"/>
                </a:solidFill>
                <a:latin typeface="Arial" panose="020B0604020202020204" pitchFamily="34" charset="0"/>
              </a:rPr>
              <a:t>Route outbound traffic</a:t>
            </a:r>
          </a:p>
          <a:p>
            <a:r>
              <a:rPr lang="en-US" sz="1300">
                <a:solidFill>
                  <a:srgbClr val="323C46"/>
                </a:solidFill>
                <a:latin typeface="Arial" panose="020B0604020202020204" pitchFamily="34" charset="0"/>
              </a:rPr>
              <a:t>Allow approved destination</a:t>
            </a:r>
          </a:p>
          <a:p>
            <a:r>
              <a:rPr lang="en-US" sz="1300">
                <a:solidFill>
                  <a:srgbClr val="323C46"/>
                </a:solidFill>
                <a:latin typeface="Arial" panose="020B0604020202020204" pitchFamily="34" charset="0"/>
              </a:rPr>
              <a:t>Block unauthorized destination</a:t>
            </a:r>
          </a:p>
          <a:p>
            <a:r>
              <a:rPr lang="en-US" sz="1300">
                <a:solidFill>
                  <a:srgbClr val="323C46"/>
                </a:solidFill>
                <a:latin typeface="Arial" panose="020B0604020202020204" pitchFamily="34" charset="0"/>
              </a:rPr>
              <a:t>Monitor traffic logs</a:t>
            </a:r>
            <a:endParaRPr lang="en-IN" sz="1300">
              <a:solidFill>
                <a:srgbClr val="323C46"/>
              </a:solidFill>
              <a:latin typeface="Arial" panose="020B0604020202020204" pitchFamily="34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9A78DA2-8835-0F2D-804C-42EEFAB732FD}"/>
              </a:ext>
            </a:extLst>
          </p:cNvPr>
          <p:cNvCxnSpPr/>
          <p:nvPr/>
        </p:nvCxnSpPr>
        <p:spPr>
          <a:xfrm flipV="1">
            <a:off x="2476500" y="2286000"/>
            <a:ext cx="698500" cy="317500"/>
          </a:xfrm>
          <a:prstGeom prst="line">
            <a:avLst/>
          </a:prstGeom>
          <a:ln w="25400">
            <a:solidFill>
              <a:srgbClr val="0064B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23D8204-1437-88D4-B75C-3C4F3A470321}"/>
              </a:ext>
            </a:extLst>
          </p:cNvPr>
          <p:cNvCxnSpPr/>
          <p:nvPr/>
        </p:nvCxnSpPr>
        <p:spPr>
          <a:xfrm flipV="1">
            <a:off x="2476500" y="3492500"/>
            <a:ext cx="3429000" cy="952500"/>
          </a:xfrm>
          <a:prstGeom prst="line">
            <a:avLst/>
          </a:prstGeom>
          <a:ln w="25400">
            <a:solidFill>
              <a:srgbClr val="0064B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8A489C7-7728-CE66-25DC-B9C4BCA1158E}"/>
              </a:ext>
            </a:extLst>
          </p:cNvPr>
          <p:cNvSpPr txBox="1"/>
          <p:nvPr/>
        </p:nvSpPr>
        <p:spPr>
          <a:xfrm>
            <a:off x="444500" y="6413500"/>
            <a:ext cx="8255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900">
                <a:solidFill>
                  <a:srgbClr val="646E78"/>
                </a:solidFill>
                <a:latin typeface="Arial" panose="020B0604020202020204" pitchFamily="34" charset="0"/>
              </a:rPr>
              <a:t>Azure Firewall Centralised Egress Filtering</a:t>
            </a:r>
          </a:p>
        </p:txBody>
      </p:sp>
    </p:spTree>
    <p:extLst>
      <p:ext uri="{BB962C8B-B14F-4D97-AF65-F5344CB8AC3E}">
        <p14:creationId xmlns:p14="http://schemas.microsoft.com/office/powerpoint/2010/main" val="18639408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2E12026-8F1C-4F52-6D3E-62335EF0486A}"/>
              </a:ext>
            </a:extLst>
          </p:cNvPr>
          <p:cNvSpPr txBox="1"/>
          <p:nvPr/>
        </p:nvSpPr>
        <p:spPr>
          <a:xfrm>
            <a:off x="444500" y="254000"/>
            <a:ext cx="8255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700" b="1">
                <a:solidFill>
                  <a:srgbClr val="0F2846"/>
                </a:solidFill>
                <a:latin typeface="Arial" panose="020B0604020202020204" pitchFamily="34" charset="0"/>
              </a:rPr>
              <a:t>Data Flow Diagram / Traffic Flow</a:t>
            </a:r>
            <a:endParaRPr lang="en-IN" sz="2700" b="1">
              <a:solidFill>
                <a:srgbClr val="0F2846"/>
              </a:solidFill>
              <a:latin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A7C2047-047A-6092-DBEC-81ACD25793CB}"/>
              </a:ext>
            </a:extLst>
          </p:cNvPr>
          <p:cNvSpPr/>
          <p:nvPr/>
        </p:nvSpPr>
        <p:spPr>
          <a:xfrm>
            <a:off x="444500" y="914400"/>
            <a:ext cx="8255000" cy="38100"/>
          </a:xfrm>
          <a:prstGeom prst="rect">
            <a:avLst/>
          </a:prstGeom>
          <a:solidFill>
            <a:srgbClr val="0078D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A0A8901-CF17-E457-5FD0-9F6B4299810B}"/>
              </a:ext>
            </a:extLst>
          </p:cNvPr>
          <p:cNvSpPr/>
          <p:nvPr/>
        </p:nvSpPr>
        <p:spPr>
          <a:xfrm>
            <a:off x="317500" y="2794000"/>
            <a:ext cx="1841500" cy="952500"/>
          </a:xfrm>
          <a:prstGeom prst="roundRect">
            <a:avLst/>
          </a:prstGeom>
          <a:solidFill>
            <a:srgbClr val="E6F2FC"/>
          </a:solidFill>
          <a:ln>
            <a:solidFill>
              <a:srgbClr val="0078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>
                <a:solidFill>
                  <a:srgbClr val="192D41"/>
                </a:solidFill>
                <a:latin typeface="Arial" panose="020B0604020202020204" pitchFamily="34" charset="0"/>
              </a:rPr>
              <a:t>SOURCE</a:t>
            </a:r>
          </a:p>
          <a:p>
            <a:pPr algn="ctr"/>
            <a:r>
              <a:rPr lang="en-IN" sz="1200">
                <a:solidFill>
                  <a:srgbClr val="192D41"/>
                </a:solidFill>
                <a:latin typeface="Arial" panose="020B0604020202020204" pitchFamily="34" charset="0"/>
              </a:rPr>
              <a:t>Team VM / Workload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FC35721-0243-B712-3987-2A102F6D4090}"/>
              </a:ext>
            </a:extLst>
          </p:cNvPr>
          <p:cNvSpPr/>
          <p:nvPr/>
        </p:nvSpPr>
        <p:spPr>
          <a:xfrm>
            <a:off x="2603500" y="2794000"/>
            <a:ext cx="1524000" cy="952500"/>
          </a:xfrm>
          <a:prstGeom prst="roundRect">
            <a:avLst/>
          </a:prstGeom>
          <a:solidFill>
            <a:srgbClr val="E6F2FC"/>
          </a:solidFill>
          <a:ln>
            <a:solidFill>
              <a:srgbClr val="0078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>
                <a:solidFill>
                  <a:srgbClr val="192D41"/>
                </a:solidFill>
                <a:latin typeface="Arial" panose="020B0604020202020204" pitchFamily="34" charset="0"/>
              </a:rPr>
              <a:t>ROUTING</a:t>
            </a:r>
          </a:p>
          <a:p>
            <a:pPr algn="ctr"/>
            <a:r>
              <a:rPr lang="en-IN" sz="1200">
                <a:solidFill>
                  <a:srgbClr val="192D41"/>
                </a:solidFill>
                <a:latin typeface="Arial" panose="020B0604020202020204" pitchFamily="34" charset="0"/>
              </a:rPr>
              <a:t>UDR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514651E-99CD-2C74-1EF4-92E72FA304E2}"/>
              </a:ext>
            </a:extLst>
          </p:cNvPr>
          <p:cNvSpPr/>
          <p:nvPr/>
        </p:nvSpPr>
        <p:spPr>
          <a:xfrm>
            <a:off x="4635500" y="2794000"/>
            <a:ext cx="1841500" cy="952500"/>
          </a:xfrm>
          <a:prstGeom prst="roundRect">
            <a:avLst/>
          </a:prstGeom>
          <a:solidFill>
            <a:srgbClr val="E6F2FC"/>
          </a:solidFill>
          <a:ln>
            <a:solidFill>
              <a:srgbClr val="0078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>
                <a:solidFill>
                  <a:srgbClr val="192D41"/>
                </a:solidFill>
                <a:latin typeface="Arial" panose="020B0604020202020204" pitchFamily="34" charset="0"/>
              </a:rPr>
              <a:t>FILTER</a:t>
            </a:r>
          </a:p>
          <a:p>
            <a:pPr algn="ctr"/>
            <a:r>
              <a:rPr lang="en-IN" sz="1200">
                <a:solidFill>
                  <a:srgbClr val="192D41"/>
                </a:solidFill>
                <a:latin typeface="Arial" panose="020B0604020202020204" pitchFamily="34" charset="0"/>
              </a:rPr>
              <a:t>Azure Firewall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692F8FA-23E7-9884-B8D2-137DD8EA5050}"/>
              </a:ext>
            </a:extLst>
          </p:cNvPr>
          <p:cNvSpPr/>
          <p:nvPr/>
        </p:nvSpPr>
        <p:spPr>
          <a:xfrm>
            <a:off x="6985000" y="2794000"/>
            <a:ext cx="1524000" cy="952500"/>
          </a:xfrm>
          <a:prstGeom prst="roundRect">
            <a:avLst/>
          </a:prstGeom>
          <a:solidFill>
            <a:srgbClr val="E6F2FC"/>
          </a:solidFill>
          <a:ln>
            <a:solidFill>
              <a:srgbClr val="0078D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>
                <a:solidFill>
                  <a:srgbClr val="192D41"/>
                </a:solidFill>
                <a:latin typeface="Arial" panose="020B0604020202020204" pitchFamily="34" charset="0"/>
              </a:rPr>
              <a:t>DECISION</a:t>
            </a:r>
          </a:p>
          <a:p>
            <a:pPr algn="ctr"/>
            <a:r>
              <a:rPr lang="en-IN" sz="1200">
                <a:solidFill>
                  <a:srgbClr val="192D41"/>
                </a:solidFill>
                <a:latin typeface="Arial" panose="020B0604020202020204" pitchFamily="34" charset="0"/>
              </a:rPr>
              <a:t>FQDN Allowlist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6DB4F83-95CB-9D51-2687-3421DCFF362B}"/>
              </a:ext>
            </a:extLst>
          </p:cNvPr>
          <p:cNvCxnSpPr/>
          <p:nvPr/>
        </p:nvCxnSpPr>
        <p:spPr>
          <a:xfrm>
            <a:off x="2159000" y="3263900"/>
            <a:ext cx="444500" cy="0"/>
          </a:xfrm>
          <a:prstGeom prst="line">
            <a:avLst/>
          </a:prstGeom>
          <a:ln w="25400">
            <a:solidFill>
              <a:srgbClr val="0064B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8A2DFB2-1057-8498-5139-334AF86A8C1E}"/>
              </a:ext>
            </a:extLst>
          </p:cNvPr>
          <p:cNvCxnSpPr/>
          <p:nvPr/>
        </p:nvCxnSpPr>
        <p:spPr>
          <a:xfrm>
            <a:off x="4127500" y="3263900"/>
            <a:ext cx="508000" cy="0"/>
          </a:xfrm>
          <a:prstGeom prst="line">
            <a:avLst/>
          </a:prstGeom>
          <a:ln w="25400">
            <a:solidFill>
              <a:srgbClr val="0064B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EB3BE40-A9BA-299B-735A-59DC377DE786}"/>
              </a:ext>
            </a:extLst>
          </p:cNvPr>
          <p:cNvCxnSpPr/>
          <p:nvPr/>
        </p:nvCxnSpPr>
        <p:spPr>
          <a:xfrm>
            <a:off x="6477000" y="3263900"/>
            <a:ext cx="508000" cy="0"/>
          </a:xfrm>
          <a:prstGeom prst="line">
            <a:avLst/>
          </a:prstGeom>
          <a:ln w="25400">
            <a:solidFill>
              <a:srgbClr val="0064B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9237A58-77E2-94F7-9E2A-9F4D2644330A}"/>
              </a:ext>
            </a:extLst>
          </p:cNvPr>
          <p:cNvSpPr/>
          <p:nvPr/>
        </p:nvSpPr>
        <p:spPr>
          <a:xfrm>
            <a:off x="1905000" y="4445000"/>
            <a:ext cx="2857500" cy="952500"/>
          </a:xfrm>
          <a:prstGeom prst="round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473D1B3-13FE-E9DE-CFAE-45C88EE11316}"/>
              </a:ext>
            </a:extLst>
          </p:cNvPr>
          <p:cNvSpPr txBox="1"/>
          <p:nvPr/>
        </p:nvSpPr>
        <p:spPr>
          <a:xfrm>
            <a:off x="2032000" y="4546600"/>
            <a:ext cx="26035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600" b="1">
                <a:solidFill>
                  <a:srgbClr val="005AA0"/>
                </a:solidFill>
                <a:latin typeface="Arial" panose="020B0604020202020204" pitchFamily="34" charset="0"/>
              </a:rPr>
              <a:t>Allowed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FA9660-06C0-7A4A-2847-C8CA37E17A4C}"/>
              </a:ext>
            </a:extLst>
          </p:cNvPr>
          <p:cNvSpPr txBox="1"/>
          <p:nvPr/>
        </p:nvSpPr>
        <p:spPr>
          <a:xfrm>
            <a:off x="2032000" y="4978400"/>
            <a:ext cx="2603500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323C46"/>
                </a:solidFill>
                <a:latin typeface="Arial" panose="020B0604020202020204" pitchFamily="34" charset="0"/>
              </a:rPr>
              <a:t>Approved FQDN -&gt; traffic proceeds to Internet.</a:t>
            </a:r>
            <a:endParaRPr lang="en-IN" sz="1300">
              <a:solidFill>
                <a:srgbClr val="323C46"/>
              </a:solidFill>
              <a:latin typeface="Arial" panose="020B0604020202020204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45BDBDA-E399-2277-5F92-638D1B4C12B1}"/>
              </a:ext>
            </a:extLst>
          </p:cNvPr>
          <p:cNvSpPr/>
          <p:nvPr/>
        </p:nvSpPr>
        <p:spPr>
          <a:xfrm>
            <a:off x="5143500" y="4445000"/>
            <a:ext cx="2857500" cy="952500"/>
          </a:xfrm>
          <a:prstGeom prst="round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58E816F-9F56-59B6-C9F9-CA9AB9F962B0}"/>
              </a:ext>
            </a:extLst>
          </p:cNvPr>
          <p:cNvSpPr txBox="1"/>
          <p:nvPr/>
        </p:nvSpPr>
        <p:spPr>
          <a:xfrm>
            <a:off x="5270500" y="4546600"/>
            <a:ext cx="26035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600" b="1">
                <a:solidFill>
                  <a:srgbClr val="005AA0"/>
                </a:solidFill>
                <a:latin typeface="Arial" panose="020B0604020202020204" pitchFamily="34" charset="0"/>
              </a:rPr>
              <a:t>Blocked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78FD6C3-B341-E466-AB66-DCB2150BA240}"/>
              </a:ext>
            </a:extLst>
          </p:cNvPr>
          <p:cNvSpPr txBox="1"/>
          <p:nvPr/>
        </p:nvSpPr>
        <p:spPr>
          <a:xfrm>
            <a:off x="5270500" y="4978400"/>
            <a:ext cx="2603500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323C46"/>
                </a:solidFill>
                <a:latin typeface="Arial" panose="020B0604020202020204" pitchFamily="34" charset="0"/>
              </a:rPr>
              <a:t>Unapproved FQDN -&gt; firewall denies the request.</a:t>
            </a:r>
            <a:endParaRPr lang="en-IN" sz="1300">
              <a:solidFill>
                <a:srgbClr val="323C46"/>
              </a:solidFill>
              <a:latin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A43607A-71A4-22E4-6CAD-0E5EBC57D6FB}"/>
              </a:ext>
            </a:extLst>
          </p:cNvPr>
          <p:cNvSpPr txBox="1"/>
          <p:nvPr/>
        </p:nvSpPr>
        <p:spPr>
          <a:xfrm>
            <a:off x="444500" y="6413500"/>
            <a:ext cx="8255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900">
                <a:solidFill>
                  <a:srgbClr val="646E78"/>
                </a:solidFill>
                <a:latin typeface="Arial" panose="020B0604020202020204" pitchFamily="34" charset="0"/>
              </a:rPr>
              <a:t>Azure Firewall Centralised Egress Filtering</a:t>
            </a:r>
          </a:p>
        </p:txBody>
      </p:sp>
    </p:spTree>
    <p:extLst>
      <p:ext uri="{BB962C8B-B14F-4D97-AF65-F5344CB8AC3E}">
        <p14:creationId xmlns:p14="http://schemas.microsoft.com/office/powerpoint/2010/main" val="24394873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95E244D-7EF6-8341-BB8F-14FC8F1D6203}"/>
              </a:ext>
            </a:extLst>
          </p:cNvPr>
          <p:cNvSpPr txBox="1"/>
          <p:nvPr/>
        </p:nvSpPr>
        <p:spPr>
          <a:xfrm>
            <a:off x="444500" y="254000"/>
            <a:ext cx="8255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700" b="1">
                <a:solidFill>
                  <a:srgbClr val="0F2846"/>
                </a:solidFill>
                <a:latin typeface="Arial" panose="020B0604020202020204" pitchFamily="34" charset="0"/>
              </a:rPr>
              <a:t>Implementation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8E38197-871E-22E1-7504-D687C480F5B2}"/>
              </a:ext>
            </a:extLst>
          </p:cNvPr>
          <p:cNvSpPr/>
          <p:nvPr/>
        </p:nvSpPr>
        <p:spPr>
          <a:xfrm>
            <a:off x="444500" y="914400"/>
            <a:ext cx="8255000" cy="38100"/>
          </a:xfrm>
          <a:prstGeom prst="rect">
            <a:avLst/>
          </a:prstGeom>
          <a:solidFill>
            <a:srgbClr val="0078D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168867-717F-6504-6B35-6F5D50265466}"/>
              </a:ext>
            </a:extLst>
          </p:cNvPr>
          <p:cNvSpPr txBox="1"/>
          <p:nvPr/>
        </p:nvSpPr>
        <p:spPr>
          <a:xfrm>
            <a:off x="698500" y="1270000"/>
            <a:ext cx="7493000" cy="218521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700">
                <a:solidFill>
                  <a:srgbClr val="28323C"/>
                </a:solidFill>
                <a:latin typeface="Arial" panose="020B0604020202020204" pitchFamily="34" charset="0"/>
              </a:rPr>
              <a:t>1. Create an Azure Virtual Network.</a:t>
            </a:r>
          </a:p>
          <a:p>
            <a:r>
              <a:rPr lang="en-US" sz="1700">
                <a:solidFill>
                  <a:srgbClr val="28323C"/>
                </a:solidFill>
                <a:latin typeface="Arial" panose="020B0604020202020204" pitchFamily="34" charset="0"/>
              </a:rPr>
              <a:t>2. Create separate subnets for participating teams.</a:t>
            </a:r>
          </a:p>
          <a:p>
            <a:r>
              <a:rPr lang="en-US" sz="1700">
                <a:solidFill>
                  <a:srgbClr val="28323C"/>
                </a:solidFill>
                <a:latin typeface="Arial" panose="020B0604020202020204" pitchFamily="34" charset="0"/>
              </a:rPr>
              <a:t>3. Deploy Azure Firewall.</a:t>
            </a:r>
          </a:p>
          <a:p>
            <a:r>
              <a:rPr lang="en-US" sz="1700">
                <a:solidFill>
                  <a:srgbClr val="28323C"/>
                </a:solidFill>
                <a:latin typeface="Arial" panose="020B0604020202020204" pitchFamily="34" charset="0"/>
              </a:rPr>
              <a:t>4. Create route tables containing the default route.</a:t>
            </a:r>
          </a:p>
          <a:p>
            <a:r>
              <a:rPr lang="en-US" sz="1700">
                <a:solidFill>
                  <a:srgbClr val="28323C"/>
                </a:solidFill>
                <a:latin typeface="Arial" panose="020B0604020202020204" pitchFamily="34" charset="0"/>
              </a:rPr>
              <a:t>5. Configure the next hop toward Azure Firewall.</a:t>
            </a:r>
          </a:p>
          <a:p>
            <a:r>
              <a:rPr lang="en-US" sz="1700">
                <a:solidFill>
                  <a:srgbClr val="28323C"/>
                </a:solidFill>
                <a:latin typeface="Arial" panose="020B0604020202020204" pitchFamily="34" charset="0"/>
              </a:rPr>
              <a:t>6. Create firewall application rules for approved FQDNs.</a:t>
            </a:r>
          </a:p>
          <a:p>
            <a:r>
              <a:rPr lang="en-US" sz="1700">
                <a:solidFill>
                  <a:srgbClr val="28323C"/>
                </a:solidFill>
                <a:latin typeface="Arial" panose="020B0604020202020204" pitchFamily="34" charset="0"/>
              </a:rPr>
              <a:t>7. Associate route tables with the required subnets.</a:t>
            </a:r>
          </a:p>
          <a:p>
            <a:r>
              <a:rPr lang="en-US" sz="1700">
                <a:solidFill>
                  <a:srgbClr val="28323C"/>
                </a:solidFill>
                <a:latin typeface="Arial" panose="020B0604020202020204" pitchFamily="34" charset="0"/>
              </a:rPr>
              <a:t>8. Generate outbound traffic and inspect the result.</a:t>
            </a:r>
            <a:endParaRPr lang="en-IN" sz="1700">
              <a:solidFill>
                <a:srgbClr val="28323C"/>
              </a:solidFill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800117-4AA8-C19C-1BEB-F0AFEC8F1512}"/>
              </a:ext>
            </a:extLst>
          </p:cNvPr>
          <p:cNvSpPr txBox="1"/>
          <p:nvPr/>
        </p:nvSpPr>
        <p:spPr>
          <a:xfrm>
            <a:off x="444500" y="6413500"/>
            <a:ext cx="8255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900">
                <a:solidFill>
                  <a:srgbClr val="646E78"/>
                </a:solidFill>
                <a:latin typeface="Arial" panose="020B0604020202020204" pitchFamily="34" charset="0"/>
              </a:rPr>
              <a:t>Azure Firewall Centralised Egress Filtering</a:t>
            </a:r>
          </a:p>
        </p:txBody>
      </p:sp>
    </p:spTree>
    <p:extLst>
      <p:ext uri="{BB962C8B-B14F-4D97-AF65-F5344CB8AC3E}">
        <p14:creationId xmlns:p14="http://schemas.microsoft.com/office/powerpoint/2010/main" val="13307944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D40FF89-1454-00A3-D48A-DD97C9592916}"/>
              </a:ext>
            </a:extLst>
          </p:cNvPr>
          <p:cNvSpPr txBox="1"/>
          <p:nvPr/>
        </p:nvSpPr>
        <p:spPr>
          <a:xfrm>
            <a:off x="444500" y="254000"/>
            <a:ext cx="8255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700" b="1">
                <a:solidFill>
                  <a:srgbClr val="0F2846"/>
                </a:solidFill>
                <a:latin typeface="Arial" panose="020B0604020202020204" pitchFamily="34" charset="0"/>
              </a:rPr>
              <a:t>Testing and Validation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FD463BE-9346-61D0-6CEF-687FADBC58B6}"/>
              </a:ext>
            </a:extLst>
          </p:cNvPr>
          <p:cNvSpPr/>
          <p:nvPr/>
        </p:nvSpPr>
        <p:spPr>
          <a:xfrm>
            <a:off x="444500" y="914400"/>
            <a:ext cx="8255000" cy="38100"/>
          </a:xfrm>
          <a:prstGeom prst="rect">
            <a:avLst/>
          </a:prstGeom>
          <a:solidFill>
            <a:srgbClr val="0078D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2757968-E7EE-B084-3132-924F16494F27}"/>
              </a:ext>
            </a:extLst>
          </p:cNvPr>
          <p:cNvSpPr/>
          <p:nvPr/>
        </p:nvSpPr>
        <p:spPr>
          <a:xfrm>
            <a:off x="444500" y="1397000"/>
            <a:ext cx="25400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BD459B-6783-C6ED-FB2B-1AF69C05F391}"/>
              </a:ext>
            </a:extLst>
          </p:cNvPr>
          <p:cNvSpPr txBox="1"/>
          <p:nvPr/>
        </p:nvSpPr>
        <p:spPr>
          <a:xfrm>
            <a:off x="571500" y="1498600"/>
            <a:ext cx="2286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600" b="1">
                <a:solidFill>
                  <a:srgbClr val="005AA0"/>
                </a:solidFill>
                <a:latin typeface="Arial" panose="020B0604020202020204" pitchFamily="34" charset="0"/>
              </a:rPr>
              <a:t>Test Case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0097D0-8F7C-5D07-748F-0866428A5B41}"/>
              </a:ext>
            </a:extLst>
          </p:cNvPr>
          <p:cNvSpPr txBox="1"/>
          <p:nvPr/>
        </p:nvSpPr>
        <p:spPr>
          <a:xfrm>
            <a:off x="571500" y="1930400"/>
            <a:ext cx="2286000" cy="109260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323C46"/>
                </a:solidFill>
                <a:latin typeface="Arial" panose="020B0604020202020204" pitchFamily="34" charset="0"/>
              </a:rPr>
              <a:t>Approved FQDN</a:t>
            </a:r>
          </a:p>
          <a:p>
            <a:r>
              <a:rPr lang="en-US" sz="1300">
                <a:solidFill>
                  <a:srgbClr val="323C46"/>
                </a:solidFill>
                <a:latin typeface="Arial" panose="020B0604020202020204" pitchFamily="34" charset="0"/>
              </a:rPr>
              <a:t>Expected: ACCESS ALLOWED</a:t>
            </a:r>
          </a:p>
          <a:p>
            <a:r>
              <a:rPr lang="en-US" sz="1300">
                <a:solidFill>
                  <a:srgbClr val="323C46"/>
                </a:solidFill>
                <a:latin typeface="Arial" panose="020B0604020202020204" pitchFamily="34" charset="0"/>
              </a:rPr>
              <a:t>Result: Successful outbound connection.</a:t>
            </a:r>
            <a:endParaRPr lang="en-IN" sz="1300">
              <a:solidFill>
                <a:srgbClr val="323C46"/>
              </a:solidFill>
              <a:latin typeface="Arial" panose="020B06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FC83EA6-5C87-59F1-8A3B-33FE8C87811D}"/>
              </a:ext>
            </a:extLst>
          </p:cNvPr>
          <p:cNvSpPr/>
          <p:nvPr/>
        </p:nvSpPr>
        <p:spPr>
          <a:xfrm>
            <a:off x="3175000" y="1397000"/>
            <a:ext cx="25400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03445B-02EB-B11C-09FE-CB6E694D1284}"/>
              </a:ext>
            </a:extLst>
          </p:cNvPr>
          <p:cNvSpPr txBox="1"/>
          <p:nvPr/>
        </p:nvSpPr>
        <p:spPr>
          <a:xfrm>
            <a:off x="3302000" y="1498600"/>
            <a:ext cx="2286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600" b="1">
                <a:solidFill>
                  <a:srgbClr val="005AA0"/>
                </a:solidFill>
                <a:latin typeface="Arial" panose="020B0604020202020204" pitchFamily="34" charset="0"/>
              </a:rPr>
              <a:t>Test Case 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28C276-FECF-DC9E-7E2B-22D33755DEDF}"/>
              </a:ext>
            </a:extLst>
          </p:cNvPr>
          <p:cNvSpPr txBox="1"/>
          <p:nvPr/>
        </p:nvSpPr>
        <p:spPr>
          <a:xfrm>
            <a:off x="3302000" y="1930400"/>
            <a:ext cx="2286000" cy="89255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323C46"/>
                </a:solidFill>
                <a:latin typeface="Arial" panose="020B0604020202020204" pitchFamily="34" charset="0"/>
              </a:rPr>
              <a:t>Unapproved FQDN</a:t>
            </a:r>
          </a:p>
          <a:p>
            <a:r>
              <a:rPr lang="en-US" sz="1300">
                <a:solidFill>
                  <a:srgbClr val="323C46"/>
                </a:solidFill>
                <a:latin typeface="Arial" panose="020B0604020202020204" pitchFamily="34" charset="0"/>
              </a:rPr>
              <a:t>Expected: ACCESS BLOCKED</a:t>
            </a:r>
          </a:p>
          <a:p>
            <a:r>
              <a:rPr lang="en-US" sz="1300">
                <a:solidFill>
                  <a:srgbClr val="323C46"/>
                </a:solidFill>
                <a:latin typeface="Arial" panose="020B0604020202020204" pitchFamily="34" charset="0"/>
              </a:rPr>
              <a:t>Result: Connection denied.</a:t>
            </a:r>
            <a:endParaRPr lang="en-IN" sz="1300">
              <a:solidFill>
                <a:srgbClr val="323C46"/>
              </a:solidFill>
              <a:latin typeface="Arial" panose="020B0604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8664DFB-8006-2202-95EE-FB45B9E6E708}"/>
              </a:ext>
            </a:extLst>
          </p:cNvPr>
          <p:cNvSpPr/>
          <p:nvPr/>
        </p:nvSpPr>
        <p:spPr>
          <a:xfrm>
            <a:off x="5905500" y="1397000"/>
            <a:ext cx="25400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1FC5FE-40BC-754E-6853-FCB1432DC449}"/>
              </a:ext>
            </a:extLst>
          </p:cNvPr>
          <p:cNvSpPr txBox="1"/>
          <p:nvPr/>
        </p:nvSpPr>
        <p:spPr>
          <a:xfrm>
            <a:off x="6032500" y="1498600"/>
            <a:ext cx="2286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600" b="1">
                <a:solidFill>
                  <a:srgbClr val="005AA0"/>
                </a:solidFill>
                <a:latin typeface="Arial" panose="020B0604020202020204" pitchFamily="34" charset="0"/>
              </a:rPr>
              <a:t>Test Case 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F83ECFB-51B4-DBBD-32C9-16ED394DEDD5}"/>
              </a:ext>
            </a:extLst>
          </p:cNvPr>
          <p:cNvSpPr txBox="1"/>
          <p:nvPr/>
        </p:nvSpPr>
        <p:spPr>
          <a:xfrm>
            <a:off x="6032500" y="1930400"/>
            <a:ext cx="2286000" cy="6924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323C46"/>
                </a:solidFill>
                <a:latin typeface="Arial" panose="020B0604020202020204" pitchFamily="34" charset="0"/>
              </a:rPr>
              <a:t>Multiple Teams</a:t>
            </a:r>
          </a:p>
          <a:p>
            <a:r>
              <a:rPr lang="en-US" sz="1300">
                <a:solidFill>
                  <a:srgbClr val="323C46"/>
                </a:solidFill>
                <a:latin typeface="Arial" panose="020B0604020202020204" pitchFamily="34" charset="0"/>
              </a:rPr>
              <a:t>Expected: All traffic follows centralized policy.</a:t>
            </a:r>
            <a:endParaRPr lang="en-IN" sz="1300">
              <a:solidFill>
                <a:srgbClr val="323C46"/>
              </a:solidFill>
              <a:latin typeface="Arial" panose="020B060402020202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3AAFD85-8020-B6B5-6EC2-461A6BFEE9E6}"/>
              </a:ext>
            </a:extLst>
          </p:cNvPr>
          <p:cNvSpPr/>
          <p:nvPr/>
        </p:nvSpPr>
        <p:spPr>
          <a:xfrm>
            <a:off x="1905000" y="4254500"/>
            <a:ext cx="4953000" cy="1016000"/>
          </a:xfrm>
          <a:prstGeom prst="round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45E0D92-34F4-7524-E347-D1DAEEFF6093}"/>
              </a:ext>
            </a:extLst>
          </p:cNvPr>
          <p:cNvSpPr txBox="1"/>
          <p:nvPr/>
        </p:nvSpPr>
        <p:spPr>
          <a:xfrm>
            <a:off x="2032000" y="4356100"/>
            <a:ext cx="4699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600" b="1">
                <a:solidFill>
                  <a:srgbClr val="005AA0"/>
                </a:solidFill>
                <a:latin typeface="Arial" panose="020B0604020202020204" pitchFamily="34" charset="0"/>
              </a:rPr>
              <a:t>Validation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297C61B-742D-7CC7-5245-8BC9C3498117}"/>
              </a:ext>
            </a:extLst>
          </p:cNvPr>
          <p:cNvSpPr txBox="1"/>
          <p:nvPr/>
        </p:nvSpPr>
        <p:spPr>
          <a:xfrm>
            <a:off x="2032000" y="4787900"/>
            <a:ext cx="4699000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323C46"/>
                </a:solidFill>
                <a:latin typeface="Arial" panose="020B0604020202020204" pitchFamily="34" charset="0"/>
              </a:rPr>
              <a:t>Check firewall logs to verify whether the request was allowed or denied.</a:t>
            </a:r>
            <a:endParaRPr lang="en-IN" sz="1300">
              <a:solidFill>
                <a:srgbClr val="323C46"/>
              </a:solidFill>
              <a:latin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E84BA73-DE64-4110-F11E-75A291AC19BD}"/>
              </a:ext>
            </a:extLst>
          </p:cNvPr>
          <p:cNvSpPr txBox="1"/>
          <p:nvPr/>
        </p:nvSpPr>
        <p:spPr>
          <a:xfrm>
            <a:off x="444500" y="6413500"/>
            <a:ext cx="8255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900">
                <a:solidFill>
                  <a:srgbClr val="646E78"/>
                </a:solidFill>
                <a:latin typeface="Arial" panose="020B0604020202020204" pitchFamily="34" charset="0"/>
              </a:rPr>
              <a:t>Azure Firewall Centralised Egress Filtering</a:t>
            </a:r>
          </a:p>
        </p:txBody>
      </p:sp>
    </p:spTree>
    <p:extLst>
      <p:ext uri="{BB962C8B-B14F-4D97-AF65-F5344CB8AC3E}">
        <p14:creationId xmlns:p14="http://schemas.microsoft.com/office/powerpoint/2010/main" val="14595129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3BBB471-9A3A-DA2E-3B5F-57A4ADC6B823}"/>
              </a:ext>
            </a:extLst>
          </p:cNvPr>
          <p:cNvSpPr txBox="1"/>
          <p:nvPr/>
        </p:nvSpPr>
        <p:spPr>
          <a:xfrm>
            <a:off x="444500" y="254000"/>
            <a:ext cx="8255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700" b="1">
                <a:solidFill>
                  <a:srgbClr val="0F2846"/>
                </a:solidFill>
                <a:latin typeface="Arial" panose="020B0604020202020204" pitchFamily="34" charset="0"/>
              </a:rPr>
              <a:t>Expected Results / Outcomes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FDAD476-4140-7A93-54F2-38218BCF293B}"/>
              </a:ext>
            </a:extLst>
          </p:cNvPr>
          <p:cNvSpPr/>
          <p:nvPr/>
        </p:nvSpPr>
        <p:spPr>
          <a:xfrm>
            <a:off x="444500" y="914400"/>
            <a:ext cx="8255000" cy="38100"/>
          </a:xfrm>
          <a:prstGeom prst="rect">
            <a:avLst/>
          </a:prstGeom>
          <a:solidFill>
            <a:srgbClr val="0078D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4ED7F9-7BE8-26B1-8703-C9EE73F07ED3}"/>
              </a:ext>
            </a:extLst>
          </p:cNvPr>
          <p:cNvSpPr txBox="1"/>
          <p:nvPr/>
        </p:nvSpPr>
        <p:spPr>
          <a:xfrm>
            <a:off x="698500" y="1397000"/>
            <a:ext cx="7620000" cy="166199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700">
                <a:solidFill>
                  <a:srgbClr val="28323C"/>
                </a:solidFill>
                <a:latin typeface="Arial" panose="020B0604020202020204" pitchFamily="34" charset="0"/>
              </a:rPr>
              <a:t>• All configured outbound traffic is routed through Azure Firewall.</a:t>
            </a:r>
          </a:p>
          <a:p>
            <a:r>
              <a:rPr lang="en-US" sz="1700">
                <a:solidFill>
                  <a:srgbClr val="28323C"/>
                </a:solidFill>
                <a:latin typeface="Arial" panose="020B0604020202020204" pitchFamily="34" charset="0"/>
              </a:rPr>
              <a:t>• Approved FQDNs can be accessed.</a:t>
            </a:r>
          </a:p>
          <a:p>
            <a:r>
              <a:rPr lang="en-US" sz="1700">
                <a:solidFill>
                  <a:srgbClr val="28323C"/>
                </a:solidFill>
                <a:latin typeface="Arial" panose="020B0604020202020204" pitchFamily="34" charset="0"/>
              </a:rPr>
              <a:t>• Non-approved destinations are blocked.</a:t>
            </a:r>
          </a:p>
          <a:p>
            <a:r>
              <a:rPr lang="en-US" sz="1700">
                <a:solidFill>
                  <a:srgbClr val="28323C"/>
                </a:solidFill>
                <a:latin typeface="Arial" panose="020B0604020202020204" pitchFamily="34" charset="0"/>
              </a:rPr>
              <a:t>• Multiple teams follow a centralized security policy.</a:t>
            </a:r>
          </a:p>
          <a:p>
            <a:r>
              <a:rPr lang="en-US" sz="1700">
                <a:solidFill>
                  <a:srgbClr val="28323C"/>
                </a:solidFill>
                <a:latin typeface="Arial" panose="020B0604020202020204" pitchFamily="34" charset="0"/>
              </a:rPr>
              <a:t>• Firewall logs provide visibility into outbound requests.</a:t>
            </a:r>
          </a:p>
          <a:p>
            <a:r>
              <a:rPr lang="en-US" sz="1700">
                <a:solidFill>
                  <a:srgbClr val="28323C"/>
                </a:solidFill>
                <a:latin typeface="Arial" panose="020B0604020202020204" pitchFamily="34" charset="0"/>
              </a:rPr>
              <a:t>• The architecture demonstrates centralized egress security.</a:t>
            </a:r>
            <a:endParaRPr lang="en-IN" sz="1700">
              <a:solidFill>
                <a:srgbClr val="28323C"/>
              </a:solidFill>
              <a:latin typeface="Arial" panose="020B06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A3CAF06-2695-5EB4-14B9-4CE29D78199F}"/>
              </a:ext>
            </a:extLst>
          </p:cNvPr>
          <p:cNvSpPr/>
          <p:nvPr/>
        </p:nvSpPr>
        <p:spPr>
          <a:xfrm>
            <a:off x="1270000" y="5270500"/>
            <a:ext cx="6350000" cy="825500"/>
          </a:xfrm>
          <a:prstGeom prst="round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E5456D-D63C-F6D4-FECC-1FEE18BF481B}"/>
              </a:ext>
            </a:extLst>
          </p:cNvPr>
          <p:cNvSpPr txBox="1"/>
          <p:nvPr/>
        </p:nvSpPr>
        <p:spPr>
          <a:xfrm>
            <a:off x="1397000" y="5372100"/>
            <a:ext cx="6096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600" b="1">
                <a:solidFill>
                  <a:srgbClr val="005AA0"/>
                </a:solidFill>
                <a:latin typeface="Arial" panose="020B0604020202020204" pitchFamily="34" charset="0"/>
              </a:rPr>
              <a:t>Expected Benefit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43AC65-9C1D-FA66-07BF-05AEE3F99E17}"/>
              </a:ext>
            </a:extLst>
          </p:cNvPr>
          <p:cNvSpPr txBox="1"/>
          <p:nvPr/>
        </p:nvSpPr>
        <p:spPr>
          <a:xfrm>
            <a:off x="1397000" y="5803900"/>
            <a:ext cx="6096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323C46"/>
                </a:solidFill>
                <a:latin typeface="Arial" panose="020B0604020202020204" pitchFamily="34" charset="0"/>
              </a:rPr>
              <a:t>Improved control, consistency and visibility over outbound cloud traffic.</a:t>
            </a:r>
            <a:endParaRPr lang="en-IN" sz="1300">
              <a:solidFill>
                <a:srgbClr val="323C46"/>
              </a:solidFill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5B4E00-611B-FC97-536C-E1E559F47A0A}"/>
              </a:ext>
            </a:extLst>
          </p:cNvPr>
          <p:cNvSpPr txBox="1"/>
          <p:nvPr/>
        </p:nvSpPr>
        <p:spPr>
          <a:xfrm>
            <a:off x="444500" y="6413500"/>
            <a:ext cx="8255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900">
                <a:solidFill>
                  <a:srgbClr val="646E78"/>
                </a:solidFill>
                <a:latin typeface="Arial" panose="020B0604020202020204" pitchFamily="34" charset="0"/>
              </a:rPr>
              <a:t>Azure Firewall Centralised Egress Filtering</a:t>
            </a:r>
          </a:p>
        </p:txBody>
      </p:sp>
    </p:spTree>
    <p:extLst>
      <p:ext uri="{BB962C8B-B14F-4D97-AF65-F5344CB8AC3E}">
        <p14:creationId xmlns:p14="http://schemas.microsoft.com/office/powerpoint/2010/main" val="15240631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AD1EB52-A01B-0547-5159-CE1DF8ADC289}"/>
              </a:ext>
            </a:extLst>
          </p:cNvPr>
          <p:cNvSpPr txBox="1"/>
          <p:nvPr/>
        </p:nvSpPr>
        <p:spPr>
          <a:xfrm>
            <a:off x="444500" y="254000"/>
            <a:ext cx="8255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700" b="1">
                <a:solidFill>
                  <a:srgbClr val="0F2846"/>
                </a:solidFill>
                <a:latin typeface="Arial" panose="020B0604020202020204" pitchFamily="34" charset="0"/>
              </a:rPr>
              <a:t>Challenges / Bottlenecks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E45D573-A60B-D2D9-CFE5-8C958E006247}"/>
              </a:ext>
            </a:extLst>
          </p:cNvPr>
          <p:cNvSpPr/>
          <p:nvPr/>
        </p:nvSpPr>
        <p:spPr>
          <a:xfrm>
            <a:off x="444500" y="914400"/>
            <a:ext cx="8255000" cy="38100"/>
          </a:xfrm>
          <a:prstGeom prst="rect">
            <a:avLst/>
          </a:prstGeom>
          <a:solidFill>
            <a:srgbClr val="0078D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0C9E2A9-4D70-170D-932A-33BE93B1D204}"/>
              </a:ext>
            </a:extLst>
          </p:cNvPr>
          <p:cNvSpPr/>
          <p:nvPr/>
        </p:nvSpPr>
        <p:spPr>
          <a:xfrm>
            <a:off x="381000" y="1333500"/>
            <a:ext cx="2603500" cy="1841500"/>
          </a:xfrm>
          <a:prstGeom prst="round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F4B7C7-A829-778B-84AF-4BBC1AF4AB52}"/>
              </a:ext>
            </a:extLst>
          </p:cNvPr>
          <p:cNvSpPr txBox="1"/>
          <p:nvPr/>
        </p:nvSpPr>
        <p:spPr>
          <a:xfrm>
            <a:off x="508000" y="1435100"/>
            <a:ext cx="23495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600" b="1">
                <a:solidFill>
                  <a:srgbClr val="005AA0"/>
                </a:solidFill>
                <a:latin typeface="Arial" panose="020B0604020202020204" pitchFamily="34" charset="0"/>
              </a:rPr>
              <a:t>UDR Misconfiguration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4F3CDA-FB78-C980-092D-B02DFA9A3AC9}"/>
              </a:ext>
            </a:extLst>
          </p:cNvPr>
          <p:cNvSpPr txBox="1"/>
          <p:nvPr/>
        </p:nvSpPr>
        <p:spPr>
          <a:xfrm>
            <a:off x="508000" y="1866900"/>
            <a:ext cx="2349500" cy="6924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323C46"/>
                </a:solidFill>
                <a:latin typeface="Arial" panose="020B0604020202020204" pitchFamily="34" charset="0"/>
              </a:rPr>
              <a:t>An incorrect route can cause complete loss of outbound connectivity.</a:t>
            </a:r>
            <a:endParaRPr lang="en-IN" sz="1300">
              <a:solidFill>
                <a:srgbClr val="323C46"/>
              </a:solidFill>
              <a:latin typeface="Arial" panose="020B06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7918B78-E305-7F26-0613-163141B78A25}"/>
              </a:ext>
            </a:extLst>
          </p:cNvPr>
          <p:cNvSpPr/>
          <p:nvPr/>
        </p:nvSpPr>
        <p:spPr>
          <a:xfrm>
            <a:off x="3175000" y="1333500"/>
            <a:ext cx="2603500" cy="1841500"/>
          </a:xfrm>
          <a:prstGeom prst="round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2B1A71-2DE1-62EE-45C4-2FEA37668EC2}"/>
              </a:ext>
            </a:extLst>
          </p:cNvPr>
          <p:cNvSpPr txBox="1"/>
          <p:nvPr/>
        </p:nvSpPr>
        <p:spPr>
          <a:xfrm>
            <a:off x="3302000" y="1435100"/>
            <a:ext cx="23495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600" b="1">
                <a:solidFill>
                  <a:srgbClr val="005AA0"/>
                </a:solidFill>
                <a:latin typeface="Arial" panose="020B0604020202020204" pitchFamily="34" charset="0"/>
              </a:rPr>
              <a:t>Firewall Cost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6B4941-2BFF-A26D-A449-1EB8C5195917}"/>
              </a:ext>
            </a:extLst>
          </p:cNvPr>
          <p:cNvSpPr txBox="1"/>
          <p:nvPr/>
        </p:nvSpPr>
        <p:spPr>
          <a:xfrm>
            <a:off x="3302000" y="1866900"/>
            <a:ext cx="2349500" cy="6924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323C46"/>
                </a:solidFill>
                <a:latin typeface="Arial" panose="020B0604020202020204" pitchFamily="34" charset="0"/>
              </a:rPr>
              <a:t>Azure Firewall can introduce significant cost even when traffic volume is low.</a:t>
            </a:r>
            <a:endParaRPr lang="en-IN" sz="1300">
              <a:solidFill>
                <a:srgbClr val="323C46"/>
              </a:solidFill>
              <a:latin typeface="Arial" panose="020B0604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CB3DDB3-EDA7-E2DB-5669-DCD918B5EBCC}"/>
              </a:ext>
            </a:extLst>
          </p:cNvPr>
          <p:cNvSpPr/>
          <p:nvPr/>
        </p:nvSpPr>
        <p:spPr>
          <a:xfrm>
            <a:off x="5969000" y="1333500"/>
            <a:ext cx="2603500" cy="1841500"/>
          </a:xfrm>
          <a:prstGeom prst="round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96DCD1F-FF56-049E-2719-65ACC887842B}"/>
              </a:ext>
            </a:extLst>
          </p:cNvPr>
          <p:cNvSpPr txBox="1"/>
          <p:nvPr/>
        </p:nvSpPr>
        <p:spPr>
          <a:xfrm>
            <a:off x="6096000" y="1435100"/>
            <a:ext cx="23495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600" b="1">
                <a:solidFill>
                  <a:srgbClr val="005AA0"/>
                </a:solidFill>
                <a:latin typeface="Arial" panose="020B0604020202020204" pitchFamily="34" charset="0"/>
              </a:rPr>
              <a:t>Configuration Complexity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CAD6B75-6392-E45C-893A-5C42F511AF30}"/>
              </a:ext>
            </a:extLst>
          </p:cNvPr>
          <p:cNvSpPr txBox="1"/>
          <p:nvPr/>
        </p:nvSpPr>
        <p:spPr>
          <a:xfrm>
            <a:off x="6096000" y="1866900"/>
            <a:ext cx="2349500" cy="6924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323C46"/>
                </a:solidFill>
                <a:latin typeface="Arial" panose="020B0604020202020204" pitchFamily="34" charset="0"/>
              </a:rPr>
              <a:t>Subnet, routing and firewall configuration must work together correctly.</a:t>
            </a:r>
            <a:endParaRPr lang="en-IN" sz="1300">
              <a:solidFill>
                <a:srgbClr val="323C46"/>
              </a:solidFill>
              <a:latin typeface="Arial" panose="020B060402020202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AA9ABE6-06C9-E445-15E4-D9962C7A3549}"/>
              </a:ext>
            </a:extLst>
          </p:cNvPr>
          <p:cNvSpPr/>
          <p:nvPr/>
        </p:nvSpPr>
        <p:spPr>
          <a:xfrm>
            <a:off x="1778000" y="3619500"/>
            <a:ext cx="2603500" cy="1841500"/>
          </a:xfrm>
          <a:prstGeom prst="round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CC5F26-33DF-2DDE-669B-D98CB8C57443}"/>
              </a:ext>
            </a:extLst>
          </p:cNvPr>
          <p:cNvSpPr txBox="1"/>
          <p:nvPr/>
        </p:nvSpPr>
        <p:spPr>
          <a:xfrm>
            <a:off x="1905000" y="3721100"/>
            <a:ext cx="23495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600" b="1">
                <a:solidFill>
                  <a:srgbClr val="005AA0"/>
                </a:solidFill>
                <a:latin typeface="Arial" panose="020B0604020202020204" pitchFamily="34" charset="0"/>
              </a:rPr>
              <a:t>Troubleshooting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B5D3D02-26CC-3748-C876-75923B610118}"/>
              </a:ext>
            </a:extLst>
          </p:cNvPr>
          <p:cNvSpPr txBox="1"/>
          <p:nvPr/>
        </p:nvSpPr>
        <p:spPr>
          <a:xfrm>
            <a:off x="1905000" y="4152900"/>
            <a:ext cx="2349500" cy="6924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323C46"/>
                </a:solidFill>
                <a:latin typeface="Arial" panose="020B0604020202020204" pitchFamily="34" charset="0"/>
              </a:rPr>
              <a:t>Traffic failures may require checking routes, policies and firewall logs.</a:t>
            </a:r>
            <a:endParaRPr lang="en-IN" sz="1300">
              <a:solidFill>
                <a:srgbClr val="323C46"/>
              </a:solidFill>
              <a:latin typeface="Arial" panose="020B0604020202020204" pitchFamily="34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589BE3-1469-7A34-082E-8CE2513BA6C7}"/>
              </a:ext>
            </a:extLst>
          </p:cNvPr>
          <p:cNvSpPr/>
          <p:nvPr/>
        </p:nvSpPr>
        <p:spPr>
          <a:xfrm>
            <a:off x="4572000" y="3619500"/>
            <a:ext cx="2603500" cy="1841500"/>
          </a:xfrm>
          <a:prstGeom prst="round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EC8901C-B1A4-C6C7-5031-70AA08C2ED80}"/>
              </a:ext>
            </a:extLst>
          </p:cNvPr>
          <p:cNvSpPr txBox="1"/>
          <p:nvPr/>
        </p:nvSpPr>
        <p:spPr>
          <a:xfrm>
            <a:off x="4699000" y="3721100"/>
            <a:ext cx="23495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600" b="1">
                <a:solidFill>
                  <a:srgbClr val="005AA0"/>
                </a:solidFill>
                <a:latin typeface="Arial" panose="020B0604020202020204" pitchFamily="34" charset="0"/>
              </a:rPr>
              <a:t>Central Dependency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D8BF5C8-E6C4-60FD-1211-8310D1B2B38D}"/>
              </a:ext>
            </a:extLst>
          </p:cNvPr>
          <p:cNvSpPr txBox="1"/>
          <p:nvPr/>
        </p:nvSpPr>
        <p:spPr>
          <a:xfrm>
            <a:off x="4699000" y="4152900"/>
            <a:ext cx="2349500" cy="6924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323C46"/>
                </a:solidFill>
                <a:latin typeface="Arial" panose="020B0604020202020204" pitchFamily="34" charset="0"/>
              </a:rPr>
              <a:t>A policy or configuration error can affect multiple teams at once.</a:t>
            </a:r>
            <a:endParaRPr lang="en-IN" sz="1300">
              <a:solidFill>
                <a:srgbClr val="323C46"/>
              </a:solidFill>
              <a:latin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87AF57A-9CAA-A5B4-B6A4-43FD2A3CF069}"/>
              </a:ext>
            </a:extLst>
          </p:cNvPr>
          <p:cNvSpPr txBox="1"/>
          <p:nvPr/>
        </p:nvSpPr>
        <p:spPr>
          <a:xfrm>
            <a:off x="444500" y="6413500"/>
            <a:ext cx="8255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900">
                <a:solidFill>
                  <a:srgbClr val="646E78"/>
                </a:solidFill>
                <a:latin typeface="Arial" panose="020B0604020202020204" pitchFamily="34" charset="0"/>
              </a:rPr>
              <a:t>Azure Firewall Centralised Egress Filtering</a:t>
            </a:r>
          </a:p>
        </p:txBody>
      </p:sp>
    </p:spTree>
    <p:extLst>
      <p:ext uri="{BB962C8B-B14F-4D97-AF65-F5344CB8AC3E}">
        <p14:creationId xmlns:p14="http://schemas.microsoft.com/office/powerpoint/2010/main" val="36773207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40F8B7C-43CA-E0DE-48BA-97CDF3868233}"/>
              </a:ext>
            </a:extLst>
          </p:cNvPr>
          <p:cNvSpPr txBox="1"/>
          <p:nvPr/>
        </p:nvSpPr>
        <p:spPr>
          <a:xfrm>
            <a:off x="444500" y="254000"/>
            <a:ext cx="8255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700" b="1">
                <a:solidFill>
                  <a:srgbClr val="0F2846"/>
                </a:solidFill>
                <a:latin typeface="Arial" panose="020B0604020202020204" pitchFamily="34" charset="0"/>
              </a:rPr>
              <a:t>Project Timeline / Work Plan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90D0220-655B-30AF-4A9F-2A9CC4DA7685}"/>
              </a:ext>
            </a:extLst>
          </p:cNvPr>
          <p:cNvSpPr/>
          <p:nvPr/>
        </p:nvSpPr>
        <p:spPr>
          <a:xfrm>
            <a:off x="444500" y="914400"/>
            <a:ext cx="8255000" cy="38100"/>
          </a:xfrm>
          <a:prstGeom prst="rect">
            <a:avLst/>
          </a:prstGeom>
          <a:solidFill>
            <a:srgbClr val="0078D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F558C97-F5EC-4D92-6A2B-112D4FB7202B}"/>
              </a:ext>
            </a:extLst>
          </p:cNvPr>
          <p:cNvSpPr/>
          <p:nvPr/>
        </p:nvSpPr>
        <p:spPr>
          <a:xfrm>
            <a:off x="381000" y="1524000"/>
            <a:ext cx="1841500" cy="2159000"/>
          </a:xfrm>
          <a:prstGeom prst="round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8A5F60-3DA6-41E7-842A-F39F98A25399}"/>
              </a:ext>
            </a:extLst>
          </p:cNvPr>
          <p:cNvSpPr txBox="1"/>
          <p:nvPr/>
        </p:nvSpPr>
        <p:spPr>
          <a:xfrm>
            <a:off x="508000" y="1625600"/>
            <a:ext cx="15875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600" b="1">
                <a:solidFill>
                  <a:srgbClr val="005AA0"/>
                </a:solidFill>
                <a:latin typeface="Arial" panose="020B0604020202020204" pitchFamily="34" charset="0"/>
              </a:rPr>
              <a:t>Phase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227EAD-993B-9BE7-7D29-842EC6272E62}"/>
              </a:ext>
            </a:extLst>
          </p:cNvPr>
          <p:cNvSpPr txBox="1"/>
          <p:nvPr/>
        </p:nvSpPr>
        <p:spPr>
          <a:xfrm>
            <a:off x="508000" y="2057400"/>
            <a:ext cx="1587500" cy="109260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323C46"/>
                </a:solidFill>
                <a:latin typeface="Arial" panose="020B0604020202020204" pitchFamily="34" charset="0"/>
              </a:rPr>
              <a:t>Requirement analysis</a:t>
            </a:r>
          </a:p>
          <a:p>
            <a:r>
              <a:rPr lang="en-US" sz="1300">
                <a:solidFill>
                  <a:srgbClr val="323C46"/>
                </a:solidFill>
                <a:latin typeface="Arial" panose="020B0604020202020204" pitchFamily="34" charset="0"/>
              </a:rPr>
              <a:t>Domain study</a:t>
            </a:r>
          </a:p>
          <a:p>
            <a:r>
              <a:rPr lang="en-US" sz="1300">
                <a:solidFill>
                  <a:srgbClr val="323C46"/>
                </a:solidFill>
                <a:latin typeface="Arial" panose="020B0604020202020204" pitchFamily="34" charset="0"/>
              </a:rPr>
              <a:t>Architecture planning</a:t>
            </a:r>
            <a:endParaRPr lang="en-IN" sz="1300">
              <a:solidFill>
                <a:srgbClr val="323C46"/>
              </a:solidFill>
              <a:latin typeface="Arial" panose="020B06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3BAB0D1-BDA4-2C2A-29B2-E39A7A106D01}"/>
              </a:ext>
            </a:extLst>
          </p:cNvPr>
          <p:cNvSpPr/>
          <p:nvPr/>
        </p:nvSpPr>
        <p:spPr>
          <a:xfrm>
            <a:off x="2413000" y="1524000"/>
            <a:ext cx="1841500" cy="2159000"/>
          </a:xfrm>
          <a:prstGeom prst="round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F2643D-18DA-0546-0F75-CA32B0AF46A1}"/>
              </a:ext>
            </a:extLst>
          </p:cNvPr>
          <p:cNvSpPr txBox="1"/>
          <p:nvPr/>
        </p:nvSpPr>
        <p:spPr>
          <a:xfrm>
            <a:off x="2540000" y="1625600"/>
            <a:ext cx="15875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600" b="1">
                <a:solidFill>
                  <a:srgbClr val="005AA0"/>
                </a:solidFill>
                <a:latin typeface="Arial" panose="020B0604020202020204" pitchFamily="34" charset="0"/>
              </a:rPr>
              <a:t>Phase 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686DC8-A196-F403-EDD0-F29E6F1D4B95}"/>
              </a:ext>
            </a:extLst>
          </p:cNvPr>
          <p:cNvSpPr txBox="1"/>
          <p:nvPr/>
        </p:nvSpPr>
        <p:spPr>
          <a:xfrm>
            <a:off x="2540000" y="2057400"/>
            <a:ext cx="1587500" cy="89255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323C46"/>
                </a:solidFill>
                <a:latin typeface="Arial" panose="020B0604020202020204" pitchFamily="34" charset="0"/>
              </a:rPr>
              <a:t>Azure VNet setup</a:t>
            </a:r>
          </a:p>
          <a:p>
            <a:r>
              <a:rPr lang="en-US" sz="1300">
                <a:solidFill>
                  <a:srgbClr val="323C46"/>
                </a:solidFill>
                <a:latin typeface="Arial" panose="020B0604020202020204" pitchFamily="34" charset="0"/>
              </a:rPr>
              <a:t>Subnet creation</a:t>
            </a:r>
          </a:p>
          <a:p>
            <a:r>
              <a:rPr lang="en-US" sz="1300">
                <a:solidFill>
                  <a:srgbClr val="323C46"/>
                </a:solidFill>
                <a:latin typeface="Arial" panose="020B0604020202020204" pitchFamily="34" charset="0"/>
              </a:rPr>
              <a:t>Firewall deployment</a:t>
            </a:r>
            <a:endParaRPr lang="en-IN" sz="1300">
              <a:solidFill>
                <a:srgbClr val="323C46"/>
              </a:solidFill>
              <a:latin typeface="Arial" panose="020B0604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696BD32-3206-8DF0-B835-2BDCBA88B0BF}"/>
              </a:ext>
            </a:extLst>
          </p:cNvPr>
          <p:cNvSpPr/>
          <p:nvPr/>
        </p:nvSpPr>
        <p:spPr>
          <a:xfrm>
            <a:off x="4445000" y="1524000"/>
            <a:ext cx="1841500" cy="2159000"/>
          </a:xfrm>
          <a:prstGeom prst="round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7D14F0-F38A-4F8C-1A37-C7C619F1DD38}"/>
              </a:ext>
            </a:extLst>
          </p:cNvPr>
          <p:cNvSpPr txBox="1"/>
          <p:nvPr/>
        </p:nvSpPr>
        <p:spPr>
          <a:xfrm>
            <a:off x="4572000" y="1625600"/>
            <a:ext cx="15875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600" b="1">
                <a:solidFill>
                  <a:srgbClr val="005AA0"/>
                </a:solidFill>
                <a:latin typeface="Arial" panose="020B0604020202020204" pitchFamily="34" charset="0"/>
              </a:rPr>
              <a:t>Phase 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B7DBE88-DD38-B5F1-4004-33613111AC6B}"/>
              </a:ext>
            </a:extLst>
          </p:cNvPr>
          <p:cNvSpPr txBox="1"/>
          <p:nvPr/>
        </p:nvSpPr>
        <p:spPr>
          <a:xfrm>
            <a:off x="4572000" y="2057400"/>
            <a:ext cx="1587500" cy="6924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323C46"/>
                </a:solidFill>
                <a:latin typeface="Arial" panose="020B0604020202020204" pitchFamily="34" charset="0"/>
              </a:rPr>
              <a:t>UDR configuration</a:t>
            </a:r>
          </a:p>
          <a:p>
            <a:r>
              <a:rPr lang="en-US" sz="1300">
                <a:solidFill>
                  <a:srgbClr val="323C46"/>
                </a:solidFill>
                <a:latin typeface="Arial" panose="020B0604020202020204" pitchFamily="34" charset="0"/>
              </a:rPr>
              <a:t>FQDN allowlist</a:t>
            </a:r>
          </a:p>
          <a:p>
            <a:r>
              <a:rPr lang="en-US" sz="1300">
                <a:solidFill>
                  <a:srgbClr val="323C46"/>
                </a:solidFill>
                <a:latin typeface="Arial" panose="020B0604020202020204" pitchFamily="34" charset="0"/>
              </a:rPr>
              <a:t>Policy testing</a:t>
            </a:r>
            <a:endParaRPr lang="en-IN" sz="1300">
              <a:solidFill>
                <a:srgbClr val="323C46"/>
              </a:solidFill>
              <a:latin typeface="Arial" panose="020B060402020202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76DD72D-3C9C-9C7F-DFE6-32FA01BC35C0}"/>
              </a:ext>
            </a:extLst>
          </p:cNvPr>
          <p:cNvSpPr/>
          <p:nvPr/>
        </p:nvSpPr>
        <p:spPr>
          <a:xfrm>
            <a:off x="6477000" y="1524000"/>
            <a:ext cx="1841500" cy="2159000"/>
          </a:xfrm>
          <a:prstGeom prst="round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C482654-3295-8D39-E2A6-31DF6A4E257F}"/>
              </a:ext>
            </a:extLst>
          </p:cNvPr>
          <p:cNvSpPr txBox="1"/>
          <p:nvPr/>
        </p:nvSpPr>
        <p:spPr>
          <a:xfrm>
            <a:off x="6604000" y="1625600"/>
            <a:ext cx="15875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600" b="1">
                <a:solidFill>
                  <a:srgbClr val="005AA0"/>
                </a:solidFill>
                <a:latin typeface="Arial" panose="020B0604020202020204" pitchFamily="34" charset="0"/>
              </a:rPr>
              <a:t>Phase 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2C8AE12-D9A8-B6CD-A0C8-575BDF1FA2E6}"/>
              </a:ext>
            </a:extLst>
          </p:cNvPr>
          <p:cNvSpPr txBox="1"/>
          <p:nvPr/>
        </p:nvSpPr>
        <p:spPr>
          <a:xfrm>
            <a:off x="6604000" y="2057400"/>
            <a:ext cx="1587500" cy="6924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300">
                <a:solidFill>
                  <a:srgbClr val="323C46"/>
                </a:solidFill>
                <a:latin typeface="Arial" panose="020B0604020202020204" pitchFamily="34" charset="0"/>
              </a:rPr>
              <a:t>Validation</a:t>
            </a:r>
          </a:p>
          <a:p>
            <a:r>
              <a:rPr lang="en-IN" sz="1300">
                <a:solidFill>
                  <a:srgbClr val="323C46"/>
                </a:solidFill>
                <a:latin typeface="Arial" panose="020B0604020202020204" pitchFamily="34" charset="0"/>
              </a:rPr>
              <a:t>Logging</a:t>
            </a:r>
          </a:p>
          <a:p>
            <a:r>
              <a:rPr lang="en-IN" sz="1300">
                <a:solidFill>
                  <a:srgbClr val="323C46"/>
                </a:solidFill>
                <a:latin typeface="Arial" panose="020B0604020202020204" pitchFamily="34" charset="0"/>
              </a:rPr>
              <a:t>Documentation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2918581-B3EC-2799-B0B3-5955AA6F50F3}"/>
              </a:ext>
            </a:extLst>
          </p:cNvPr>
          <p:cNvSpPr/>
          <p:nvPr/>
        </p:nvSpPr>
        <p:spPr>
          <a:xfrm>
            <a:off x="1397000" y="4254500"/>
            <a:ext cx="6032500" cy="952500"/>
          </a:xfrm>
          <a:prstGeom prst="round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792C444-9289-B538-DC9B-52944FA0DCB4}"/>
              </a:ext>
            </a:extLst>
          </p:cNvPr>
          <p:cNvSpPr txBox="1"/>
          <p:nvPr/>
        </p:nvSpPr>
        <p:spPr>
          <a:xfrm>
            <a:off x="1524000" y="4356100"/>
            <a:ext cx="57785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600" b="1">
                <a:solidFill>
                  <a:srgbClr val="005AA0"/>
                </a:solidFill>
                <a:latin typeface="Arial" panose="020B0604020202020204" pitchFamily="34" charset="0"/>
              </a:rPr>
              <a:t>Next Phase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9EABDB4-3552-E6A2-0FE7-C308299EFEBC}"/>
              </a:ext>
            </a:extLst>
          </p:cNvPr>
          <p:cNvSpPr txBox="1"/>
          <p:nvPr/>
        </p:nvSpPr>
        <p:spPr>
          <a:xfrm>
            <a:off x="1524000" y="4787900"/>
            <a:ext cx="5778500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323C46"/>
                </a:solidFill>
                <a:latin typeface="Arial" panose="020B0604020202020204" pitchFamily="34" charset="0"/>
              </a:rPr>
              <a:t>Complete testing, document results, analyze cost and prepare final demonstration.</a:t>
            </a:r>
            <a:endParaRPr lang="en-IN" sz="1300">
              <a:solidFill>
                <a:srgbClr val="323C46"/>
              </a:solidFill>
              <a:latin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81B8597-88C4-8B5F-CEE1-A4A94F3DD15C}"/>
              </a:ext>
            </a:extLst>
          </p:cNvPr>
          <p:cNvSpPr txBox="1"/>
          <p:nvPr/>
        </p:nvSpPr>
        <p:spPr>
          <a:xfrm>
            <a:off x="444500" y="6413500"/>
            <a:ext cx="8255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900">
                <a:solidFill>
                  <a:srgbClr val="646E78"/>
                </a:solidFill>
                <a:latin typeface="Arial" panose="020B0604020202020204" pitchFamily="34" charset="0"/>
              </a:rPr>
              <a:t>Azure Firewall Centralised Egress Filtering</a:t>
            </a:r>
          </a:p>
        </p:txBody>
      </p:sp>
    </p:spTree>
    <p:extLst>
      <p:ext uri="{BB962C8B-B14F-4D97-AF65-F5344CB8AC3E}">
        <p14:creationId xmlns:p14="http://schemas.microsoft.com/office/powerpoint/2010/main" val="19575318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10D2218-FD0A-D361-AFFB-2743E2F64773}"/>
              </a:ext>
            </a:extLst>
          </p:cNvPr>
          <p:cNvSpPr txBox="1"/>
          <p:nvPr/>
        </p:nvSpPr>
        <p:spPr>
          <a:xfrm>
            <a:off x="444500" y="254000"/>
            <a:ext cx="8255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700" b="1">
                <a:solidFill>
                  <a:srgbClr val="0F2846"/>
                </a:solidFill>
                <a:latin typeface="Arial" panose="020B0604020202020204" pitchFamily="34" charset="0"/>
              </a:rPr>
              <a:t>Conclusion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58543B5-FB7B-5C8F-B1B9-90B52D86DAB9}"/>
              </a:ext>
            </a:extLst>
          </p:cNvPr>
          <p:cNvSpPr/>
          <p:nvPr/>
        </p:nvSpPr>
        <p:spPr>
          <a:xfrm>
            <a:off x="444500" y="914400"/>
            <a:ext cx="8255000" cy="38100"/>
          </a:xfrm>
          <a:prstGeom prst="rect">
            <a:avLst/>
          </a:prstGeom>
          <a:solidFill>
            <a:srgbClr val="0078D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C11C427-BFE8-C0A9-E6D8-A3E62CC6C82B}"/>
              </a:ext>
            </a:extLst>
          </p:cNvPr>
          <p:cNvSpPr/>
          <p:nvPr/>
        </p:nvSpPr>
        <p:spPr>
          <a:xfrm>
            <a:off x="698500" y="1524000"/>
            <a:ext cx="7239000" cy="1270000"/>
          </a:xfrm>
          <a:prstGeom prst="round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E2D23B-0DF4-E7D9-199E-3E665CEC3DA2}"/>
              </a:ext>
            </a:extLst>
          </p:cNvPr>
          <p:cNvSpPr txBox="1"/>
          <p:nvPr/>
        </p:nvSpPr>
        <p:spPr>
          <a:xfrm>
            <a:off x="825500" y="1625600"/>
            <a:ext cx="698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600" b="1">
                <a:solidFill>
                  <a:srgbClr val="005AA0"/>
                </a:solidFill>
                <a:latin typeface="Arial" panose="020B0604020202020204" pitchFamily="34" charset="0"/>
              </a:rPr>
              <a:t>Summary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11BCD0-F750-A2D9-AB58-CF7C9A58621B}"/>
              </a:ext>
            </a:extLst>
          </p:cNvPr>
          <p:cNvSpPr txBox="1"/>
          <p:nvPr/>
        </p:nvSpPr>
        <p:spPr>
          <a:xfrm>
            <a:off x="825500" y="2057400"/>
            <a:ext cx="6985000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323C46"/>
                </a:solidFill>
                <a:latin typeface="Arial" panose="020B0604020202020204" pitchFamily="34" charset="0"/>
              </a:rPr>
              <a:t>The project proposes a centralized Azure Firewall architecture for controlling outbound traffic from multiple teams.</a:t>
            </a:r>
            <a:endParaRPr lang="en-IN" sz="1300">
              <a:solidFill>
                <a:srgbClr val="323C46"/>
              </a:solidFill>
              <a:latin typeface="Arial" panose="020B06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7EA5D72-C9F2-F509-C65A-BEE6D4EF7016}"/>
              </a:ext>
            </a:extLst>
          </p:cNvPr>
          <p:cNvSpPr/>
          <p:nvPr/>
        </p:nvSpPr>
        <p:spPr>
          <a:xfrm>
            <a:off x="698500" y="3175000"/>
            <a:ext cx="3429000" cy="1524000"/>
          </a:xfrm>
          <a:prstGeom prst="round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C7A27E-79DA-3B05-0A1B-5DA618D53439}"/>
              </a:ext>
            </a:extLst>
          </p:cNvPr>
          <p:cNvSpPr txBox="1"/>
          <p:nvPr/>
        </p:nvSpPr>
        <p:spPr>
          <a:xfrm>
            <a:off x="825500" y="3276600"/>
            <a:ext cx="317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600" b="1">
                <a:solidFill>
                  <a:srgbClr val="005AA0"/>
                </a:solidFill>
                <a:latin typeface="Arial" panose="020B0604020202020204" pitchFamily="34" charset="0"/>
              </a:rPr>
              <a:t>Security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BB0B6F-6D7E-48BE-8873-B04BDE9763B1}"/>
              </a:ext>
            </a:extLst>
          </p:cNvPr>
          <p:cNvSpPr txBox="1"/>
          <p:nvPr/>
        </p:nvSpPr>
        <p:spPr>
          <a:xfrm>
            <a:off x="825500" y="3708400"/>
            <a:ext cx="3175000" cy="6924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323C46"/>
                </a:solidFill>
                <a:latin typeface="Arial" panose="020B0604020202020204" pitchFamily="34" charset="0"/>
              </a:rPr>
              <a:t>FQDN allowlisting provides controlled access to approved external destinations.</a:t>
            </a:r>
            <a:endParaRPr lang="en-IN" sz="1300">
              <a:solidFill>
                <a:srgbClr val="323C46"/>
              </a:solidFill>
              <a:latin typeface="Arial" panose="020B0604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434EF3D-E091-4C06-6972-68F8ACE32369}"/>
              </a:ext>
            </a:extLst>
          </p:cNvPr>
          <p:cNvSpPr/>
          <p:nvPr/>
        </p:nvSpPr>
        <p:spPr>
          <a:xfrm>
            <a:off x="4508500" y="3175000"/>
            <a:ext cx="3429000" cy="1524000"/>
          </a:xfrm>
          <a:prstGeom prst="round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A9F4EF-1ACC-62AA-D55D-92AC2BD03918}"/>
              </a:ext>
            </a:extLst>
          </p:cNvPr>
          <p:cNvSpPr txBox="1"/>
          <p:nvPr/>
        </p:nvSpPr>
        <p:spPr>
          <a:xfrm>
            <a:off x="4635500" y="3276600"/>
            <a:ext cx="317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600" b="1">
                <a:solidFill>
                  <a:srgbClr val="005AA0"/>
                </a:solidFill>
                <a:latin typeface="Arial" panose="020B0604020202020204" pitchFamily="34" charset="0"/>
              </a:rPr>
              <a:t>Centralization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80D0D08-AFAE-07A1-BEC8-7AC05E2574B5}"/>
              </a:ext>
            </a:extLst>
          </p:cNvPr>
          <p:cNvSpPr txBox="1"/>
          <p:nvPr/>
        </p:nvSpPr>
        <p:spPr>
          <a:xfrm>
            <a:off x="4635500" y="3708400"/>
            <a:ext cx="3175000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323C46"/>
                </a:solidFill>
                <a:latin typeface="Arial" panose="020B0604020202020204" pitchFamily="34" charset="0"/>
              </a:rPr>
              <a:t>UDRs force Internet-bound traffic through a common security control point.</a:t>
            </a:r>
            <a:endParaRPr lang="en-IN" sz="1300">
              <a:solidFill>
                <a:srgbClr val="323C46"/>
              </a:solidFill>
              <a:latin typeface="Arial" panose="020B060402020202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9AF0DF3-FAF4-7442-4A6E-75ED8354B56D}"/>
              </a:ext>
            </a:extLst>
          </p:cNvPr>
          <p:cNvSpPr/>
          <p:nvPr/>
        </p:nvSpPr>
        <p:spPr>
          <a:xfrm>
            <a:off x="1192161" y="5245759"/>
            <a:ext cx="6350000" cy="889000"/>
          </a:xfrm>
          <a:prstGeom prst="roundRect">
            <a:avLst/>
          </a:prstGeom>
          <a:solidFill>
            <a:srgbClr val="FFFFFF"/>
          </a:solidFill>
          <a:ln>
            <a:solidFill>
              <a:srgbClr val="CDD7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3C24394-5455-3134-1907-43BC57CA1B4E}"/>
              </a:ext>
            </a:extLst>
          </p:cNvPr>
          <p:cNvSpPr txBox="1"/>
          <p:nvPr/>
        </p:nvSpPr>
        <p:spPr>
          <a:xfrm>
            <a:off x="1397000" y="5185946"/>
            <a:ext cx="6096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600" b="1">
                <a:solidFill>
                  <a:srgbClr val="005AA0"/>
                </a:solidFill>
                <a:latin typeface="Arial" panose="020B0604020202020204" pitchFamily="34" charset="0"/>
              </a:rPr>
              <a:t>Outcome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68F4058-F9DE-6D51-9D80-3B849EF8B43E}"/>
              </a:ext>
            </a:extLst>
          </p:cNvPr>
          <p:cNvSpPr txBox="1"/>
          <p:nvPr/>
        </p:nvSpPr>
        <p:spPr>
          <a:xfrm>
            <a:off x="1397000" y="5613400"/>
            <a:ext cx="6096000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 dirty="0">
                <a:solidFill>
                  <a:srgbClr val="323C46"/>
                </a:solidFill>
                <a:latin typeface="Arial" panose="020B0604020202020204" pitchFamily="34" charset="0"/>
              </a:rPr>
              <a:t>The solution demonstrates how Azure networking and firewall policies work together to provide centralized egress security.</a:t>
            </a:r>
            <a:endParaRPr lang="en-IN" sz="1300" dirty="0">
              <a:solidFill>
                <a:srgbClr val="323C46"/>
              </a:solidFill>
              <a:latin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8A3878E-08DB-B7FC-2BFF-76E86B835581}"/>
              </a:ext>
            </a:extLst>
          </p:cNvPr>
          <p:cNvSpPr txBox="1"/>
          <p:nvPr/>
        </p:nvSpPr>
        <p:spPr>
          <a:xfrm>
            <a:off x="444500" y="6413500"/>
            <a:ext cx="8255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900">
                <a:solidFill>
                  <a:srgbClr val="646E78"/>
                </a:solidFill>
                <a:latin typeface="Arial" panose="020B0604020202020204" pitchFamily="34" charset="0"/>
              </a:rPr>
              <a:t>Azure Firewall Centralised Egress Filtering</a:t>
            </a:r>
          </a:p>
        </p:txBody>
      </p:sp>
    </p:spTree>
    <p:extLst>
      <p:ext uri="{BB962C8B-B14F-4D97-AF65-F5344CB8AC3E}">
        <p14:creationId xmlns:p14="http://schemas.microsoft.com/office/powerpoint/2010/main" val="4096736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E3E0223-DB2F-4941-D866-F2F0CCB871FC}"/>
              </a:ext>
            </a:extLst>
          </p:cNvPr>
          <p:cNvSpPr txBox="1"/>
          <p:nvPr/>
        </p:nvSpPr>
        <p:spPr>
          <a:xfrm>
            <a:off x="444500" y="254000"/>
            <a:ext cx="8255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700" b="1">
                <a:solidFill>
                  <a:srgbClr val="0F2846"/>
                </a:solidFill>
                <a:latin typeface="Arial" panose="020B0604020202020204" pitchFamily="34" charset="0"/>
              </a:rPr>
              <a:t>References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B3586C3-8A3C-BE91-F337-BFF6E94B9357}"/>
              </a:ext>
            </a:extLst>
          </p:cNvPr>
          <p:cNvSpPr/>
          <p:nvPr/>
        </p:nvSpPr>
        <p:spPr>
          <a:xfrm>
            <a:off x="444500" y="914400"/>
            <a:ext cx="8255000" cy="38100"/>
          </a:xfrm>
          <a:prstGeom prst="rect">
            <a:avLst/>
          </a:prstGeom>
          <a:solidFill>
            <a:srgbClr val="0078D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549AEE-B9CB-DA8E-DD21-8D144EE5E545}"/>
              </a:ext>
            </a:extLst>
          </p:cNvPr>
          <p:cNvSpPr txBox="1"/>
          <p:nvPr/>
        </p:nvSpPr>
        <p:spPr>
          <a:xfrm>
            <a:off x="635000" y="1397000"/>
            <a:ext cx="7620000" cy="34778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lvl="0"/>
            <a:r>
              <a:rPr lang="en-IN" sz="2000" b="1" dirty="0"/>
              <a:t>Azure Firewall overview</a:t>
            </a:r>
            <a:br>
              <a:rPr lang="en-IN" sz="2000" dirty="0"/>
            </a:br>
            <a:r>
              <a:rPr lang="en-IN" sz="2000" dirty="0">
                <a:hlinkClick r:id="rId2"/>
              </a:rPr>
              <a:t>Microsoft Learn — Azure Firewall FAQ</a:t>
            </a:r>
            <a:r>
              <a:rPr lang="en-IN" sz="2000" dirty="0"/>
              <a:t> </a:t>
            </a:r>
          </a:p>
          <a:p>
            <a:pPr lvl="0"/>
            <a:r>
              <a:rPr lang="en-IN" sz="2000" b="1" dirty="0"/>
              <a:t>Azure Firewall deployment and outbound filtering</a:t>
            </a:r>
            <a:br>
              <a:rPr lang="en-IN" sz="2000" dirty="0"/>
            </a:br>
            <a:r>
              <a:rPr lang="en-IN" sz="2000" dirty="0">
                <a:hlinkClick r:id="rId3"/>
              </a:rPr>
              <a:t>Microsoft Learn — Deploy and configure Azure Firewall</a:t>
            </a:r>
            <a:r>
              <a:rPr lang="en-IN" sz="2000" dirty="0"/>
              <a:t> </a:t>
            </a:r>
          </a:p>
          <a:p>
            <a:pPr lvl="0"/>
            <a:r>
              <a:rPr lang="en-IN" sz="2000" b="1" dirty="0"/>
              <a:t>Azure Firewall monitoring and logs</a:t>
            </a:r>
            <a:br>
              <a:rPr lang="en-IN" sz="2000" dirty="0"/>
            </a:br>
            <a:r>
              <a:rPr lang="en-IN" sz="2000" dirty="0">
                <a:hlinkClick r:id="rId4"/>
              </a:rPr>
              <a:t>Microsoft Learn — Monitor Azure Firewall</a:t>
            </a:r>
            <a:r>
              <a:rPr lang="en-IN" sz="2000" dirty="0"/>
              <a:t> </a:t>
            </a:r>
          </a:p>
          <a:p>
            <a:pPr lvl="0"/>
            <a:r>
              <a:rPr lang="en-IN" sz="2000" b="1" dirty="0"/>
              <a:t>Azure Firewall security and best practices</a:t>
            </a:r>
            <a:br>
              <a:rPr lang="en-IN" sz="2000" dirty="0"/>
            </a:br>
            <a:r>
              <a:rPr lang="en-IN" sz="2000" dirty="0">
                <a:hlinkClick r:id="rId5"/>
              </a:rPr>
              <a:t>Microsoft Learn — Secure your Azure Firewall deployment</a:t>
            </a:r>
            <a:r>
              <a:rPr lang="en-IN" sz="2000" dirty="0"/>
              <a:t> </a:t>
            </a:r>
          </a:p>
          <a:p>
            <a:pPr lvl="0"/>
            <a:r>
              <a:rPr lang="en-IN" sz="2000" b="1" dirty="0"/>
              <a:t>Zero Trust recommendations for Azure Firewall</a:t>
            </a:r>
            <a:br>
              <a:rPr lang="en-IN" sz="2000" dirty="0"/>
            </a:br>
            <a:r>
              <a:rPr lang="en-IN" sz="2000" dirty="0">
                <a:hlinkClick r:id="rId6"/>
              </a:rPr>
              <a:t>Microsoft Learn — Zero Trust recommendations for Azure Firewall</a:t>
            </a:r>
            <a:endParaRPr lang="en-IN" sz="2000" dirty="0"/>
          </a:p>
          <a:p>
            <a:endParaRPr lang="en-IN" sz="2000" dirty="0">
              <a:solidFill>
                <a:srgbClr val="28323C"/>
              </a:solidFill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1B6B18-E88B-0E26-194E-813702770656}"/>
              </a:ext>
            </a:extLst>
          </p:cNvPr>
          <p:cNvSpPr txBox="1"/>
          <p:nvPr/>
        </p:nvSpPr>
        <p:spPr>
          <a:xfrm>
            <a:off x="444500" y="6413500"/>
            <a:ext cx="8255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900">
                <a:solidFill>
                  <a:srgbClr val="646E78"/>
                </a:solidFill>
                <a:latin typeface="Arial" panose="020B0604020202020204" pitchFamily="34" charset="0"/>
              </a:rPr>
              <a:t>Azure Firewall Centralised Egress Filtering</a:t>
            </a:r>
          </a:p>
        </p:txBody>
      </p:sp>
    </p:spTree>
    <p:extLst>
      <p:ext uri="{BB962C8B-B14F-4D97-AF65-F5344CB8AC3E}">
        <p14:creationId xmlns:p14="http://schemas.microsoft.com/office/powerpoint/2010/main" val="21025787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1331</Words>
  <Application>Microsoft Office PowerPoint</Application>
  <PresentationFormat>Widescreen</PresentationFormat>
  <Paragraphs>262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RACHAPUDI AKHILESH</dc:creator>
  <cp:lastModifiedBy>Rachapudi Akhilesh</cp:lastModifiedBy>
  <cp:revision>3</cp:revision>
  <dcterms:created xsi:type="dcterms:W3CDTF">2026-08-25T17:25:55Z</dcterms:created>
  <dcterms:modified xsi:type="dcterms:W3CDTF">2026-08-26T01:46:49Z</dcterms:modified>
</cp:coreProperties>
</file>